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4" r:id="rId1"/>
  </p:sldMasterIdLst>
  <p:notesMasterIdLst>
    <p:notesMasterId r:id="rId16"/>
  </p:notesMasterIdLst>
  <p:sldIdLst>
    <p:sldId id="256" r:id="rId2"/>
    <p:sldId id="257" r:id="rId3"/>
    <p:sldId id="267" r:id="rId4"/>
    <p:sldId id="269" r:id="rId5"/>
    <p:sldId id="270" r:id="rId6"/>
    <p:sldId id="271" r:id="rId7"/>
    <p:sldId id="272" r:id="rId8"/>
    <p:sldId id="273" r:id="rId9"/>
    <p:sldId id="268" r:id="rId10"/>
    <p:sldId id="260" r:id="rId11"/>
    <p:sldId id="274" r:id="rId12"/>
    <p:sldId id="261" r:id="rId13"/>
    <p:sldId id="262" r:id="rId14"/>
    <p:sldId id="26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704"/>
  </p:normalViewPr>
  <p:slideViewPr>
    <p:cSldViewPr snapToGrid="0">
      <p:cViewPr varScale="1">
        <p:scale>
          <a:sx n="120" d="100"/>
          <a:sy n="120" d="100"/>
        </p:scale>
        <p:origin x="4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22D10B-5CDA-8641-86B2-FC2CDB1DBC0F}" type="datetimeFigureOut">
              <a:rPr lang="en-US" smtClean="0"/>
              <a:t>3/10/25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7B11F-DD74-7543-8693-FCDF82265905}" type="slidenum">
              <a:rPr lang="en-US" smtClean="0"/>
              <a:t>‹#›</a:t>
            </a:fld>
            <a:endParaRPr lang="en-US"/>
          </a:p>
        </p:txBody>
      </p:sp>
    </p:spTree>
    <p:extLst>
      <p:ext uri="{BB962C8B-B14F-4D97-AF65-F5344CB8AC3E}">
        <p14:creationId xmlns:p14="http://schemas.microsoft.com/office/powerpoint/2010/main" val="1740481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17B11F-DD74-7543-8693-FCDF82265905}" type="slidenum">
              <a:rPr lang="en-US" smtClean="0"/>
              <a:t>3</a:t>
            </a:fld>
            <a:endParaRPr lang="en-US"/>
          </a:p>
        </p:txBody>
      </p:sp>
    </p:spTree>
    <p:extLst>
      <p:ext uri="{BB962C8B-B14F-4D97-AF65-F5344CB8AC3E}">
        <p14:creationId xmlns:p14="http://schemas.microsoft.com/office/powerpoint/2010/main" val="2694066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17B11F-DD74-7543-8693-FCDF82265905}" type="slidenum">
              <a:rPr lang="en-US" smtClean="0"/>
              <a:t>14</a:t>
            </a:fld>
            <a:endParaRPr lang="en-US"/>
          </a:p>
        </p:txBody>
      </p:sp>
    </p:spTree>
    <p:extLst>
      <p:ext uri="{BB962C8B-B14F-4D97-AF65-F5344CB8AC3E}">
        <p14:creationId xmlns:p14="http://schemas.microsoft.com/office/powerpoint/2010/main" val="88959147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44479B-705B-4489-957E-7E8A228BDFA0}" type="datetime1">
              <a:rPr lang="en-US" smtClean="0"/>
              <a:t>3/10/25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70C12960-6E85-460F-B6E3-5B82CB31AF3D}" type="slidenum">
              <a:rPr lang="en-US" smtClean="0"/>
              <a:t>‹#›</a:t>
            </a:fld>
            <a:endParaRPr lang="en-US"/>
          </a:p>
        </p:txBody>
      </p:sp>
    </p:spTree>
    <p:extLst>
      <p:ext uri="{BB962C8B-B14F-4D97-AF65-F5344CB8AC3E}">
        <p14:creationId xmlns:p14="http://schemas.microsoft.com/office/powerpoint/2010/main" val="2732317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9F774-3FA6-43B8-9241-99959C8FD463}" type="datetime1">
              <a:rPr lang="en-US" smtClean="0"/>
              <a:t>3/10/25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10412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F9504452-5DCC-4FE2-A5C9-8A5EF6714D65}" type="datetime1">
              <a:rPr lang="en-US" smtClean="0"/>
              <a:t>3/10/25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70C12960-6E85-460F-B6E3-5B82CB31AF3D}" type="slidenum">
              <a:rPr lang="en-US" smtClean="0"/>
              <a:t>‹#›</a:t>
            </a:fld>
            <a:endParaRPr lang="en-US"/>
          </a:p>
        </p:txBody>
      </p:sp>
    </p:spTree>
    <p:extLst>
      <p:ext uri="{BB962C8B-B14F-4D97-AF65-F5344CB8AC3E}">
        <p14:creationId xmlns:p14="http://schemas.microsoft.com/office/powerpoint/2010/main" val="3473811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79ABC2-0180-4F3A-A895-A85BC724D472}" type="datetime1">
              <a:rPr lang="en-US" smtClean="0"/>
              <a:t>3/10/25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7355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EEA9BA-4E8F-439E-BEA4-91FBA01E3F5F}" type="datetime1">
              <a:rPr lang="en-US" smtClean="0"/>
              <a:t>3/10/25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457683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E15BF18-0007-481C-AA29-413124BC3EE7}" type="datetime1">
              <a:rPr lang="en-US" smtClean="0"/>
              <a:t>3/10/25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09121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BE9870-3748-43AD-B547-02A075CB4A1D}" type="datetime1">
              <a:rPr lang="en-US" smtClean="0"/>
              <a:t>3/10/25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80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8E7897-33C5-4F1A-9307-D068E37F3DC7}" type="datetime1">
              <a:rPr lang="en-US" smtClean="0"/>
              <a:t>3/10/25</a:t>
            </a:fld>
            <a:endParaRPr lang="en-US"/>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61121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E171BA-CC09-47C8-A6DF-F5C5CB59CEEC}" type="datetime1">
              <a:rPr lang="en-US" smtClean="0"/>
              <a:t>3/10/25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71544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7B66AD-7C08-490A-ADA4-B47E10FB2407}" type="datetime1">
              <a:rPr lang="en-US" smtClean="0"/>
              <a:t>3/10/25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38392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B95027-4255-49E7-9841-CD21BCC99996}" type="datetime1">
              <a:rPr lang="en-US" smtClean="0"/>
              <a:t>3/10/25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83281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7DA38F49-B3E2-4BF0-BEC7-C30D34ABBB8D}" type="datetime1">
              <a:rPr lang="en-US" smtClean="0"/>
              <a:t>3/10/25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2353769440"/>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github.com/gamesforblindgamers/blind-accessible-game-engines" TargetMode="Externa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pmc.ncbi.nlm.nih.gov/articles/PMC3446956/?utm_source=chatgpt.com" TargetMode="Externa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github.com/devinprater/accessible-retro-games?utm_source=chatgpt.com" TargetMode="External"/><Relationship Id="rId4" Type="http://schemas.openxmlformats.org/officeDocument/2006/relationships/hyperlink" Target="https://github.com/gamesforblindgamers/blind-accessible-game-engines?utm_source=chatgpt.com" TargetMode="Externa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link.springer.com/article/10.1007/s00500-024-09827-4?utm_source=chatgpt.com" TargetMode="External"/><Relationship Id="rId4" Type="http://schemas.openxmlformats.org/officeDocument/2006/relationships/hyperlink" Target="https://dl.acm.org/doi/fullHtml/10.1145/3544548.3580702?utm_source=chatgpt.com" TargetMode="Externa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pmc.ncbi.nlm.nih.gov/articles/PMC3446956/?utm_source=chatgpt.com" TargetMode="External"/><Relationship Id="rId4" Type="http://schemas.openxmlformats.org/officeDocument/2006/relationships/hyperlink" Target="https://dl.acm.org/doi/fullHtml/10.1145/3544548.3580702?utm_source=chatgpt.com" TargetMode="Externa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link.springer.com/article/10.1007/s00500-024-09827-4?utm_source=chatgpt.com" TargetMode="Externa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hdphoto" Target="../media/hdphoto2.wdp"/><Relationship Id="rId7" Type="http://schemas.openxmlformats.org/officeDocument/2006/relationships/image" Target="../media/image10.jpe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10" Type="http://schemas.openxmlformats.org/officeDocument/2006/relationships/image" Target="../media/image13.jpeg"/><Relationship Id="rId4" Type="http://schemas.openxmlformats.org/officeDocument/2006/relationships/image" Target="../media/image2.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4.jpeg"/><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6DBFAD4-B5FC-442B-A283-381B01B195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1" name="Oval 10">
              <a:extLst>
                <a:ext uri="{FF2B5EF4-FFF2-40B4-BE49-F238E27FC236}">
                  <a16:creationId xmlns:a16="http://schemas.microsoft.com/office/drawing/2014/main" id="{9B649DC7-8769-4383-A6F2-8F366BA7A1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2" name="Oval 11">
              <a:extLst>
                <a:ext uri="{FF2B5EF4-FFF2-40B4-BE49-F238E27FC236}">
                  <a16:creationId xmlns:a16="http://schemas.microsoft.com/office/drawing/2014/main" id="{0C67FD53-2686-4E0E-BA49-976F78F9A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useBgFill="1">
        <p:nvSpPr>
          <p:cNvPr id="14" name="Rectangle 13">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bstract watercolor pattern on a white background">
            <a:extLst>
              <a:ext uri="{FF2B5EF4-FFF2-40B4-BE49-F238E27FC236}">
                <a16:creationId xmlns:a16="http://schemas.microsoft.com/office/drawing/2014/main" id="{934308CC-BC70-AA87-B016-6922E7CCDC38}"/>
              </a:ext>
            </a:extLst>
          </p:cNvPr>
          <p:cNvPicPr>
            <a:picLocks noChangeAspect="1"/>
          </p:cNvPicPr>
          <p:nvPr/>
        </p:nvPicPr>
        <p:blipFill>
          <a:blip r:embed="rId4"/>
          <a:srcRect t="14644" b="1086"/>
          <a:stretch/>
        </p:blipFill>
        <p:spPr>
          <a:xfrm>
            <a:off x="-1" y="10"/>
            <a:ext cx="12191999" cy="6857990"/>
          </a:xfrm>
          <a:prstGeom prst="rect">
            <a:avLst/>
          </a:prstGeom>
        </p:spPr>
      </p:pic>
      <p:sp>
        <p:nvSpPr>
          <p:cNvPr id="16" name="Rectangle 1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5">
              <a:alphaModFix amt="9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12DD936-DB66-6473-3E61-5DF0EF1B9E50}"/>
              </a:ext>
            </a:extLst>
          </p:cNvPr>
          <p:cNvSpPr>
            <a:spLocks noGrp="1"/>
          </p:cNvSpPr>
          <p:nvPr>
            <p:ph type="ctrTitle"/>
          </p:nvPr>
        </p:nvSpPr>
        <p:spPr>
          <a:xfrm>
            <a:off x="1285456" y="4162031"/>
            <a:ext cx="4543683" cy="1767141"/>
          </a:xfrm>
        </p:spPr>
        <p:txBody>
          <a:bodyPr vert="horz" lIns="91440" tIns="45720" rIns="91440" bIns="45720" rtlCol="0" anchor="ctr">
            <a:normAutofit/>
          </a:bodyPr>
          <a:lstStyle/>
          <a:p>
            <a:pPr algn="r">
              <a:lnSpc>
                <a:spcPct val="90000"/>
              </a:lnSpc>
            </a:pPr>
            <a:r>
              <a:rPr lang="en-US" sz="3800" dirty="0">
                <a:blipFill>
                  <a:blip r:embed="rId7">
                    <a:extLst>
                      <a:ext uri="{28A0092B-C50C-407E-A947-70E740481C1C}">
                        <a14:useLocalDpi xmlns:a14="http://schemas.microsoft.com/office/drawing/2010/main" val="0"/>
                      </a:ext>
                    </a:extLst>
                  </a:blip>
                  <a:tile tx="6350" ty="-127000" sx="65000" sy="64000" flip="none" algn="tl"/>
                </a:blipFill>
              </a:rPr>
              <a:t>Exploring a 2D First-Person Game for Blind Players</a:t>
            </a:r>
          </a:p>
        </p:txBody>
      </p:sp>
      <p:sp>
        <p:nvSpPr>
          <p:cNvPr id="5" name="TextBox 4">
            <a:extLst>
              <a:ext uri="{FF2B5EF4-FFF2-40B4-BE49-F238E27FC236}">
                <a16:creationId xmlns:a16="http://schemas.microsoft.com/office/drawing/2014/main" id="{29FA1937-72C6-D77E-6521-BBE36E635C85}"/>
              </a:ext>
            </a:extLst>
          </p:cNvPr>
          <p:cNvSpPr txBox="1"/>
          <p:nvPr/>
        </p:nvSpPr>
        <p:spPr>
          <a:xfrm>
            <a:off x="6217920" y="4170410"/>
            <a:ext cx="4699221" cy="1767141"/>
          </a:xfrm>
          <a:prstGeom prst="rect">
            <a:avLst/>
          </a:prstGeom>
        </p:spPr>
        <p:txBody>
          <a:bodyPr vert="horz" lIns="91440" tIns="45720" rIns="91440" bIns="45720" rtlCol="0" anchor="ctr">
            <a:normAutofit/>
          </a:bodyPr>
          <a:lstStyle/>
          <a:p>
            <a:pPr indent="-182880">
              <a:lnSpc>
                <a:spcPct val="90000"/>
              </a:lnSpc>
              <a:spcAft>
                <a:spcPts val="600"/>
              </a:spcAft>
              <a:buClr>
                <a:schemeClr val="accent1">
                  <a:lumMod val="75000"/>
                </a:schemeClr>
              </a:buClr>
              <a:buSzPct val="85000"/>
              <a:buFont typeface="Wingdings" pitchFamily="2" charset="2"/>
              <a:buChar char="§"/>
            </a:pPr>
            <a:r>
              <a:rPr lang="en-US" i="1" dirty="0"/>
              <a:t>By: Youssef Youssef</a:t>
            </a:r>
          </a:p>
          <a:p>
            <a:pPr indent="-182880">
              <a:lnSpc>
                <a:spcPct val="90000"/>
              </a:lnSpc>
              <a:spcAft>
                <a:spcPts val="600"/>
              </a:spcAft>
              <a:buClr>
                <a:schemeClr val="accent1">
                  <a:lumMod val="75000"/>
                </a:schemeClr>
              </a:buClr>
              <a:buSzPct val="85000"/>
              <a:buFont typeface="Wingdings" pitchFamily="2" charset="2"/>
              <a:buChar char="§"/>
            </a:pPr>
            <a:r>
              <a:rPr lang="en-US" i="1" dirty="0"/>
              <a:t>Professor: Yotam Gingold</a:t>
            </a:r>
          </a:p>
          <a:p>
            <a:pPr indent="-182880">
              <a:lnSpc>
                <a:spcPct val="90000"/>
              </a:lnSpc>
              <a:spcAft>
                <a:spcPts val="600"/>
              </a:spcAft>
              <a:buClr>
                <a:schemeClr val="accent1">
                  <a:lumMod val="75000"/>
                </a:schemeClr>
              </a:buClr>
              <a:buSzPct val="85000"/>
              <a:buFont typeface="Wingdings" pitchFamily="2" charset="2"/>
              <a:buChar char="§"/>
            </a:pPr>
            <a:r>
              <a:rPr lang="en-US" i="1" dirty="0"/>
              <a:t>Date: 03/10/2025</a:t>
            </a:r>
          </a:p>
        </p:txBody>
      </p:sp>
      <p:sp>
        <p:nvSpPr>
          <p:cNvPr id="20" name="Rectangle 19">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Oval 21">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4" name="Oval 23">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9126040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CA88C2-C73C-4062-A097-8FBCE3090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3981C21-E132-4402-B31B-D725C1CE77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685C77-4E84-486A-9AE5-F3635BE98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4390A4-E21E-6A98-5F61-6BD25648D036}"/>
              </a:ext>
            </a:extLst>
          </p:cNvPr>
          <p:cNvSpPr>
            <a:spLocks noGrp="1"/>
          </p:cNvSpPr>
          <p:nvPr>
            <p:ph type="title"/>
          </p:nvPr>
        </p:nvSpPr>
        <p:spPr>
          <a:xfrm>
            <a:off x="1286934" y="1465790"/>
            <a:ext cx="3860798" cy="3941345"/>
          </a:xfrm>
        </p:spPr>
        <p:txBody>
          <a:bodyPr>
            <a:normAutofit/>
          </a:bodyPr>
          <a:lstStyle/>
          <a:p>
            <a:r>
              <a:rPr lang="en-US" sz="5900" dirty="0"/>
              <a:t>Introduction</a:t>
            </a:r>
          </a:p>
        </p:txBody>
      </p:sp>
      <p:sp>
        <p:nvSpPr>
          <p:cNvPr id="3" name="Content Placeholder 2">
            <a:extLst>
              <a:ext uri="{FF2B5EF4-FFF2-40B4-BE49-F238E27FC236}">
                <a16:creationId xmlns:a16="http://schemas.microsoft.com/office/drawing/2014/main" id="{EA370C76-09CA-8A77-58E1-E655E54E713E}"/>
              </a:ext>
            </a:extLst>
          </p:cNvPr>
          <p:cNvSpPr>
            <a:spLocks noGrp="1"/>
          </p:cNvSpPr>
          <p:nvPr>
            <p:ph idx="1"/>
          </p:nvPr>
        </p:nvSpPr>
        <p:spPr>
          <a:xfrm>
            <a:off x="6417733" y="1359090"/>
            <a:ext cx="5132665" cy="4048046"/>
          </a:xfrm>
        </p:spPr>
        <p:txBody>
          <a:bodyPr anchor="ctr">
            <a:normAutofit/>
          </a:bodyPr>
          <a:lstStyle/>
          <a:p>
            <a:r>
              <a:rPr lang="en-US" dirty="0"/>
              <a:t>Problem: There’s a lack of accessible real-time 2D first person gaming experiences for blind players. There’s only minimal games like cards and such.</a:t>
            </a:r>
          </a:p>
          <a:p>
            <a:r>
              <a:rPr lang="en-US" dirty="0"/>
              <a:t>Goal: Create a system that converts video to text to narration for an engaging experience (The LLM agent’s answers must be prompted).</a:t>
            </a:r>
          </a:p>
        </p:txBody>
      </p:sp>
      <p:sp>
        <p:nvSpPr>
          <p:cNvPr id="14" name="Rectangle 13">
            <a:extLst>
              <a:ext uri="{FF2B5EF4-FFF2-40B4-BE49-F238E27FC236}">
                <a16:creationId xmlns:a16="http://schemas.microsoft.com/office/drawing/2014/main" id="{E55C1C3E-5158-47F3-8FD9-14B22C3E6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0142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C58B12-DF45-0AFE-322F-4E6A025D6F18}"/>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2763495-4084-E382-C617-90CD384393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A9B2D98-5F5B-636B-6302-0E02581A83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F1B01475-BFF3-7B22-785E-B2C225970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1F9C68D9-AC9D-F03E-DA8B-791B3FBAE1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280C26F-74CB-B03F-2AE2-F58C28834E2E}"/>
              </a:ext>
            </a:extLst>
          </p:cNvPr>
          <p:cNvSpPr>
            <a:spLocks noGrp="1"/>
          </p:cNvSpPr>
          <p:nvPr>
            <p:ph type="title"/>
          </p:nvPr>
        </p:nvSpPr>
        <p:spPr>
          <a:xfrm>
            <a:off x="1069848" y="484632"/>
            <a:ext cx="10058400" cy="1609344"/>
          </a:xfrm>
        </p:spPr>
        <p:txBody>
          <a:bodyPr>
            <a:normAutofit/>
          </a:bodyPr>
          <a:lstStyle/>
          <a:p>
            <a:r>
              <a:rPr lang="en-US" dirty="0"/>
              <a:t>Existing Research: (</a:t>
            </a:r>
            <a:r>
              <a:rPr lang="en-US" dirty="0" err="1"/>
              <a:t>GitHUb</a:t>
            </a:r>
            <a:r>
              <a:rPr lang="en-US" dirty="0"/>
              <a:t> and white papers)</a:t>
            </a:r>
          </a:p>
        </p:txBody>
      </p:sp>
      <p:sp>
        <p:nvSpPr>
          <p:cNvPr id="3" name="Content Placeholder 2">
            <a:extLst>
              <a:ext uri="{FF2B5EF4-FFF2-40B4-BE49-F238E27FC236}">
                <a16:creationId xmlns:a16="http://schemas.microsoft.com/office/drawing/2014/main" id="{6673E95C-0ACB-62E9-8145-75D606DC1266}"/>
              </a:ext>
            </a:extLst>
          </p:cNvPr>
          <p:cNvSpPr>
            <a:spLocks noGrp="1"/>
          </p:cNvSpPr>
          <p:nvPr>
            <p:ph idx="1"/>
          </p:nvPr>
        </p:nvSpPr>
        <p:spPr>
          <a:xfrm>
            <a:off x="333075" y="2250849"/>
            <a:ext cx="11405269" cy="4436031"/>
          </a:xfrm>
        </p:spPr>
        <p:txBody>
          <a:bodyPr>
            <a:noAutofit/>
          </a:bodyPr>
          <a:lstStyle/>
          <a:p>
            <a:pPr marL="0" indent="0">
              <a:spcBef>
                <a:spcPts val="1500"/>
              </a:spcBef>
              <a:spcAft>
                <a:spcPts val="750"/>
              </a:spcAft>
              <a:buNone/>
            </a:pPr>
            <a:r>
              <a:rPr lang="en-US" sz="1600" b="1" u="sng" dirty="0">
                <a:effectLst/>
              </a:rPr>
              <a:t>Accessible RPG Games:</a:t>
            </a:r>
          </a:p>
          <a:p>
            <a:pPr>
              <a:spcBef>
                <a:spcPts val="750"/>
              </a:spcBef>
              <a:spcAft>
                <a:spcPts val="600"/>
              </a:spcAft>
              <a:buFont typeface="Wingdings" pitchFamily="2" charset="2"/>
              <a:buChar char="v"/>
            </a:pPr>
            <a:r>
              <a:rPr lang="en-US" sz="1400" b="1" dirty="0">
                <a:effectLst/>
              </a:rPr>
              <a:t>Text-Based RPGs:</a:t>
            </a:r>
            <a:r>
              <a:rPr lang="en-US" sz="1400" dirty="0"/>
              <a:t> </a:t>
            </a:r>
            <a:r>
              <a:rPr lang="en-US" sz="1400" b="1" dirty="0">
                <a:effectLst/>
              </a:rPr>
              <a:t>"Shadow Line”, "Fantasy Story II”, "The Secret of </a:t>
            </a:r>
            <a:r>
              <a:rPr lang="en-US" sz="1400" b="1" dirty="0" err="1">
                <a:effectLst/>
              </a:rPr>
              <a:t>Darkwoods</a:t>
            </a:r>
            <a:r>
              <a:rPr lang="en-US" sz="1400" b="1" dirty="0">
                <a:effectLst/>
              </a:rPr>
              <a:t>”, "MUME: Multi-Users in Middle-earth” and "</a:t>
            </a:r>
            <a:r>
              <a:rPr lang="en-US" sz="1400" b="1" dirty="0" err="1">
                <a:effectLst/>
              </a:rPr>
              <a:t>Trawel</a:t>
            </a:r>
            <a:r>
              <a:rPr lang="en-US" sz="1400" b="1" dirty="0">
                <a:effectLst/>
              </a:rPr>
              <a:t>”</a:t>
            </a:r>
          </a:p>
          <a:p>
            <a:pPr marR="0" lvl="0" algn="l" defTabSz="914400" rtl="0" eaLnBrk="1" fontAlgn="auto" latinLnBrk="0" hangingPunct="1">
              <a:lnSpc>
                <a:spcPct val="90000"/>
              </a:lnSpc>
              <a:spcBef>
                <a:spcPts val="1200"/>
              </a:spcBef>
              <a:spcAft>
                <a:spcPts val="0"/>
              </a:spcAft>
              <a:buClr>
                <a:srgbClr val="D34817">
                  <a:lumMod val="75000"/>
                </a:srgbClr>
              </a:buClr>
              <a:buSzPct val="85000"/>
              <a:buFont typeface="Wingdings" pitchFamily="2" charset="2"/>
              <a:buChar char="v"/>
              <a:tabLst/>
              <a:defRPr/>
            </a:pPr>
            <a:r>
              <a:rPr kumimoji="0" lang="en-US" sz="1600" b="1" i="0" u="none" strike="noStrike" kern="1200" cap="none" spc="0" normalizeH="0" baseline="0" noProof="0" dirty="0">
                <a:ln>
                  <a:noFill/>
                </a:ln>
                <a:solidFill>
                  <a:prstClr val="black"/>
                </a:solidFill>
                <a:effectLst/>
                <a:uLnTx/>
                <a:uFillTx/>
                <a:latin typeface="-webkit-standard"/>
                <a:ea typeface="+mn-ea"/>
                <a:cs typeface="+mn-cs"/>
              </a:rPr>
              <a:t>Library for Games that could work for blind people: </a:t>
            </a:r>
            <a:r>
              <a:rPr kumimoji="0" lang="en-US" sz="1600" b="1" i="0" u="none" strike="noStrike" kern="1200" cap="none" spc="0" normalizeH="0" baseline="0" noProof="0" dirty="0">
                <a:ln>
                  <a:noFill/>
                </a:ln>
                <a:solidFill>
                  <a:prstClr val="black"/>
                </a:solidFill>
                <a:effectLst/>
                <a:uLnTx/>
                <a:uFillTx/>
                <a:latin typeface="-webkit-standard"/>
                <a:ea typeface="+mn-ea"/>
                <a:cs typeface="+mn-cs"/>
                <a:hlinkClick r:id="rId5"/>
              </a:rPr>
              <a:t>https://github.com/gamesforblindgamers/blind-accessible-game-engines</a:t>
            </a:r>
            <a:endParaRPr kumimoji="0" lang="en-US" sz="1600" b="1" i="0" u="none" strike="noStrike" kern="1200" cap="none" spc="0" normalizeH="0" baseline="0" noProof="0" dirty="0">
              <a:ln>
                <a:noFill/>
              </a:ln>
              <a:solidFill>
                <a:prstClr val="black"/>
              </a:solidFill>
              <a:effectLst/>
              <a:uLnTx/>
              <a:uFillTx/>
              <a:latin typeface="-webkit-standard"/>
              <a:ea typeface="+mn-ea"/>
              <a:cs typeface="+mn-cs"/>
            </a:endParaRPr>
          </a:p>
          <a:p>
            <a:pPr marL="0" indent="0">
              <a:spcBef>
                <a:spcPts val="750"/>
              </a:spcBef>
              <a:spcAft>
                <a:spcPts val="600"/>
              </a:spcAft>
              <a:buNone/>
            </a:pPr>
            <a:endParaRPr lang="en-US" sz="1400" b="1" dirty="0">
              <a:effectLst/>
            </a:endParaRPr>
          </a:p>
          <a:p>
            <a:pPr marL="0" indent="0">
              <a:spcBef>
                <a:spcPts val="750"/>
              </a:spcBef>
              <a:spcAft>
                <a:spcPts val="1500"/>
              </a:spcAft>
              <a:buNone/>
            </a:pPr>
            <a:r>
              <a:rPr lang="en-US" sz="1600" b="1" u="sng" dirty="0">
                <a:effectLst/>
              </a:rPr>
              <a:t>Accessibility Features to Look For:</a:t>
            </a:r>
          </a:p>
          <a:p>
            <a:pPr fontAlgn="ctr">
              <a:spcBef>
                <a:spcPts val="600"/>
              </a:spcBef>
              <a:spcAft>
                <a:spcPts val="600"/>
              </a:spcAft>
              <a:buFont typeface="Wingdings" pitchFamily="2" charset="2"/>
              <a:buChar char="v"/>
            </a:pPr>
            <a:r>
              <a:rPr lang="en-US" sz="1800" b="1" dirty="0">
                <a:effectLst/>
              </a:rPr>
              <a:t>Audio Cues:</a:t>
            </a:r>
            <a:r>
              <a:rPr lang="en-US" sz="1800" dirty="0">
                <a:effectLst/>
              </a:rPr>
              <a:t> Games that use distinct audio cues to indicate events, enemy locations, and player actions. </a:t>
            </a:r>
          </a:p>
          <a:p>
            <a:pPr fontAlgn="ctr">
              <a:spcBef>
                <a:spcPts val="600"/>
              </a:spcBef>
              <a:spcAft>
                <a:spcPts val="600"/>
              </a:spcAft>
              <a:buFont typeface="Wingdings" pitchFamily="2" charset="2"/>
              <a:buChar char="v"/>
            </a:pPr>
            <a:r>
              <a:rPr lang="en-US" sz="1800" b="1" dirty="0">
                <a:effectLst/>
              </a:rPr>
              <a:t>Screen Reader Compatibility:</a:t>
            </a:r>
            <a:r>
              <a:rPr lang="en-US" sz="1800" dirty="0">
                <a:effectLst/>
              </a:rPr>
              <a:t> Games that are designed to be played with screen readers, allowing blind players to access text and other information. </a:t>
            </a:r>
          </a:p>
          <a:p>
            <a:pPr fontAlgn="ctr">
              <a:spcBef>
                <a:spcPts val="600"/>
              </a:spcBef>
              <a:spcAft>
                <a:spcPts val="600"/>
              </a:spcAft>
              <a:buFont typeface="Wingdings" pitchFamily="2" charset="2"/>
              <a:buChar char="v"/>
            </a:pPr>
            <a:r>
              <a:rPr lang="en-US" sz="1800" b="1" dirty="0">
                <a:effectLst/>
              </a:rPr>
              <a:t>Customizable Controls:</a:t>
            </a:r>
            <a:r>
              <a:rPr lang="en-US" sz="1800" dirty="0">
                <a:effectLst/>
              </a:rPr>
              <a:t> Games that allow players to customize controls, such as button mapping and sensitivity settings. </a:t>
            </a:r>
          </a:p>
          <a:p>
            <a:pPr fontAlgn="ctr">
              <a:spcBef>
                <a:spcPts val="600"/>
              </a:spcBef>
              <a:spcAft>
                <a:spcPts val="1500"/>
              </a:spcAft>
              <a:buFont typeface="Wingdings" pitchFamily="2" charset="2"/>
              <a:buChar char="v"/>
            </a:pPr>
            <a:r>
              <a:rPr lang="en-US" sz="1800" b="1" dirty="0">
                <a:effectLst/>
              </a:rPr>
              <a:t>Text-Based Gameplay:</a:t>
            </a:r>
            <a:r>
              <a:rPr lang="en-US" sz="1800" dirty="0">
                <a:effectLst/>
              </a:rPr>
              <a:t> Games that rely on text-based descriptions and interactions, rather than visual elements.</a:t>
            </a:r>
          </a:p>
        </p:txBody>
      </p:sp>
      <p:sp>
        <p:nvSpPr>
          <p:cNvPr id="27" name="Oval 26">
            <a:extLst>
              <a:ext uri="{FF2B5EF4-FFF2-40B4-BE49-F238E27FC236}">
                <a16:creationId xmlns:a16="http://schemas.microsoft.com/office/drawing/2014/main" id="{CBF29793-2822-7BFA-6CD8-7823F1D4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9" name="Oval 28">
            <a:extLst>
              <a:ext uri="{FF2B5EF4-FFF2-40B4-BE49-F238E27FC236}">
                <a16:creationId xmlns:a16="http://schemas.microsoft.com/office/drawing/2014/main" id="{04FB8137-E9AA-3D85-C624-15A073642D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0388442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568910-2FC4-3765-33A9-0E5C43AEFCD6}"/>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2ADF1F5-0E7F-F813-F45A-6DC9DDC3E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A9C83FA-C2FF-D62F-6595-FB9D64F27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29E746FB-622B-B56F-D4BA-E10A8400D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0E9A97F0-AEDE-8624-B44A-4C17162054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14F23F4-5006-372A-6D18-538320477A5F}"/>
              </a:ext>
            </a:extLst>
          </p:cNvPr>
          <p:cNvSpPr>
            <a:spLocks noGrp="1"/>
          </p:cNvSpPr>
          <p:nvPr>
            <p:ph type="title"/>
          </p:nvPr>
        </p:nvSpPr>
        <p:spPr>
          <a:xfrm>
            <a:off x="1069848" y="484632"/>
            <a:ext cx="10058400" cy="1609344"/>
          </a:xfrm>
        </p:spPr>
        <p:txBody>
          <a:bodyPr>
            <a:normAutofit fontScale="90000"/>
          </a:bodyPr>
          <a:lstStyle/>
          <a:p>
            <a:pPr algn="l"/>
            <a:r>
              <a:rPr lang="en-US" sz="5400" b="1" i="0" u="none" strike="noStrike" dirty="0">
                <a:solidFill>
                  <a:srgbClr val="000000"/>
                </a:solidFill>
                <a:effectLst/>
              </a:rPr>
              <a:t>Overview of Past Work on Video-to-Text Games for Blind Users</a:t>
            </a:r>
            <a:endParaRPr lang="en-US" sz="5400" b="0" i="0" u="none" strike="noStrike" dirty="0">
              <a:solidFill>
                <a:srgbClr val="000000"/>
              </a:solidFill>
              <a:effectLst/>
            </a:endParaRPr>
          </a:p>
        </p:txBody>
      </p:sp>
      <p:sp>
        <p:nvSpPr>
          <p:cNvPr id="3" name="Content Placeholder 2">
            <a:extLst>
              <a:ext uri="{FF2B5EF4-FFF2-40B4-BE49-F238E27FC236}">
                <a16:creationId xmlns:a16="http://schemas.microsoft.com/office/drawing/2014/main" id="{BE9B972B-0789-82CA-9E51-B08B7FAF58CE}"/>
              </a:ext>
            </a:extLst>
          </p:cNvPr>
          <p:cNvSpPr>
            <a:spLocks noGrp="1"/>
          </p:cNvSpPr>
          <p:nvPr>
            <p:ph idx="1"/>
          </p:nvPr>
        </p:nvSpPr>
        <p:spPr>
          <a:xfrm>
            <a:off x="1069848" y="2148600"/>
            <a:ext cx="10058400" cy="4224768"/>
          </a:xfrm>
        </p:spPr>
        <p:txBody>
          <a:bodyPr>
            <a:noAutofit/>
          </a:bodyPr>
          <a:lstStyle/>
          <a:p>
            <a:pPr algn="l">
              <a:buFont typeface="Wingdings" pitchFamily="2" charset="2"/>
              <a:buChar char="v"/>
            </a:pPr>
            <a:r>
              <a:rPr lang="en-US" sz="2800" b="0" i="0" u="none" strike="noStrike" dirty="0">
                <a:solidFill>
                  <a:srgbClr val="000000"/>
                </a:solidFill>
                <a:effectLst/>
              </a:rPr>
              <a:t>The development of video-to-text games for blind users has been an area of active research, aiming to make gaming more accessible to visually impaired individuals. Studies have explored various methods to adapt traditional video games into formats that can be experienced through auditory feedback. For instance, the Audio-based Environment Simulator (</a:t>
            </a:r>
            <a:r>
              <a:rPr lang="en-US" sz="2800" b="0" i="0" u="none" strike="noStrike" dirty="0" err="1">
                <a:solidFill>
                  <a:srgbClr val="000000"/>
                </a:solidFill>
                <a:effectLst/>
              </a:rPr>
              <a:t>AbES</a:t>
            </a:r>
            <a:r>
              <a:rPr lang="en-US" sz="2800" b="0" i="0" u="none" strike="noStrike" dirty="0">
                <a:solidFill>
                  <a:srgbClr val="000000"/>
                </a:solidFill>
                <a:effectLst/>
              </a:rPr>
              <a:t>) was developed as a virtual reality environment to teach navigation skills to blind users within a video game context. </a:t>
            </a:r>
            <a:r>
              <a:rPr lang="en-US" sz="2800" b="0" i="0" u="none" strike="noStrike" dirty="0">
                <a:solidFill>
                  <a:srgbClr val="000000"/>
                </a:solidFill>
                <a:effectLst/>
                <a:hlinkClick r:id="rId4"/>
              </a:rPr>
              <a:t>pmc.ncbi.nlm.nih.gov</a:t>
            </a:r>
            <a:endParaRPr lang="en-US" sz="2800" b="0" i="0" u="none" strike="noStrike" dirty="0">
              <a:solidFill>
                <a:srgbClr val="000000"/>
              </a:solidFill>
              <a:effectLst/>
            </a:endParaRPr>
          </a:p>
        </p:txBody>
      </p:sp>
      <p:sp>
        <p:nvSpPr>
          <p:cNvPr id="27" name="Oval 26">
            <a:extLst>
              <a:ext uri="{FF2B5EF4-FFF2-40B4-BE49-F238E27FC236}">
                <a16:creationId xmlns:a16="http://schemas.microsoft.com/office/drawing/2014/main" id="{DA05945A-4ABB-2BA8-CEB0-FD8B249E9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9" name="Oval 28">
            <a:extLst>
              <a:ext uri="{FF2B5EF4-FFF2-40B4-BE49-F238E27FC236}">
                <a16:creationId xmlns:a16="http://schemas.microsoft.com/office/drawing/2014/main" id="{BC1BC898-74BB-6DF7-94D1-99D1A2488C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2404277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E00868-0A2C-43BC-B11F-D8086431CDAC}"/>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E9907E5-B594-A118-3E5A-1F0F05EA5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1D6870C-25B9-3F70-ADED-7E753D52D2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13007484-0CD4-8540-F3B7-70D23C5ED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E5E9C423-08F1-0B76-DBCB-E4D601E76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27E20A2-4B70-61E9-79BD-C0AEF091A1AB}"/>
              </a:ext>
            </a:extLst>
          </p:cNvPr>
          <p:cNvSpPr>
            <a:spLocks noGrp="1"/>
          </p:cNvSpPr>
          <p:nvPr>
            <p:ph type="title"/>
          </p:nvPr>
        </p:nvSpPr>
        <p:spPr>
          <a:xfrm>
            <a:off x="1069848" y="484632"/>
            <a:ext cx="10058400" cy="1609344"/>
          </a:xfrm>
        </p:spPr>
        <p:txBody>
          <a:bodyPr>
            <a:normAutofit/>
          </a:bodyPr>
          <a:lstStyle/>
          <a:p>
            <a:pPr marL="0" indent="0" algn="l">
              <a:buNone/>
            </a:pPr>
            <a:r>
              <a:rPr lang="en-US" sz="5400" b="1" i="0" u="none" strike="noStrike" dirty="0">
                <a:solidFill>
                  <a:srgbClr val="000000"/>
                </a:solidFill>
                <a:effectLst/>
              </a:rPr>
              <a:t>GitHub Repositories</a:t>
            </a:r>
            <a:endParaRPr lang="en-US" sz="5400" b="0" i="0" u="none" strike="noStrike" dirty="0">
              <a:solidFill>
                <a:srgbClr val="000000"/>
              </a:solidFill>
              <a:effectLst/>
            </a:endParaRPr>
          </a:p>
        </p:txBody>
      </p:sp>
      <p:sp>
        <p:nvSpPr>
          <p:cNvPr id="3" name="Content Placeholder 2">
            <a:extLst>
              <a:ext uri="{FF2B5EF4-FFF2-40B4-BE49-F238E27FC236}">
                <a16:creationId xmlns:a16="http://schemas.microsoft.com/office/drawing/2014/main" id="{9B67BF37-F109-BFB8-79D4-EFA7FF2D886F}"/>
              </a:ext>
            </a:extLst>
          </p:cNvPr>
          <p:cNvSpPr>
            <a:spLocks noGrp="1"/>
          </p:cNvSpPr>
          <p:nvPr>
            <p:ph idx="1"/>
          </p:nvPr>
        </p:nvSpPr>
        <p:spPr>
          <a:xfrm>
            <a:off x="1069848" y="2636874"/>
            <a:ext cx="10058400" cy="3757007"/>
          </a:xfrm>
        </p:spPr>
        <p:txBody>
          <a:bodyPr>
            <a:noAutofit/>
          </a:bodyPr>
          <a:lstStyle/>
          <a:p>
            <a:pPr marL="914400" lvl="1" indent="-457200" algn="l">
              <a:buFont typeface="Wingdings" pitchFamily="2" charset="2"/>
              <a:buChar char="v"/>
            </a:pPr>
            <a:r>
              <a:rPr lang="en-US" sz="2800" b="0" i="1" u="none" strike="noStrike" dirty="0">
                <a:solidFill>
                  <a:srgbClr val="000000"/>
                </a:solidFill>
                <a:effectLst/>
              </a:rPr>
              <a:t>Blind-Accessible Game Engines</a:t>
            </a:r>
            <a:r>
              <a:rPr lang="en-US" sz="2800" b="0" i="0" u="none" strike="noStrike" dirty="0">
                <a:solidFill>
                  <a:srgbClr val="000000"/>
                </a:solidFill>
                <a:effectLst/>
              </a:rPr>
              <a:t>: A curated list of game engines and templates designed specifically for creating games accessible to blind users. </a:t>
            </a:r>
            <a:r>
              <a:rPr lang="en-US" sz="2800" b="0" i="0" u="none" strike="noStrike" dirty="0">
                <a:solidFill>
                  <a:srgbClr val="000000"/>
                </a:solidFill>
                <a:effectLst/>
                <a:hlinkClick r:id="rId4"/>
              </a:rPr>
              <a:t>github.com</a:t>
            </a:r>
            <a:endParaRPr lang="en-US" sz="2800" b="0" i="0" u="none" strike="noStrike" dirty="0">
              <a:solidFill>
                <a:srgbClr val="000000"/>
              </a:solidFill>
              <a:effectLst/>
            </a:endParaRPr>
          </a:p>
          <a:p>
            <a:pPr marL="914400" lvl="1" indent="-457200" algn="l">
              <a:buFont typeface="Wingdings" pitchFamily="2" charset="2"/>
              <a:buChar char="v"/>
            </a:pPr>
            <a:r>
              <a:rPr lang="en-US" sz="2800" b="0" i="1" u="none" strike="noStrike" dirty="0">
                <a:solidFill>
                  <a:srgbClr val="000000"/>
                </a:solidFill>
                <a:effectLst/>
              </a:rPr>
              <a:t>Accessible Retro Games</a:t>
            </a:r>
            <a:r>
              <a:rPr lang="en-US" sz="2800" b="0" i="0" u="none" strike="noStrike" dirty="0">
                <a:solidFill>
                  <a:srgbClr val="000000"/>
                </a:solidFill>
                <a:effectLst/>
              </a:rPr>
              <a:t>: Resources for retro video games accessible to blind individuals, utilizing tools like </a:t>
            </a:r>
            <a:r>
              <a:rPr lang="en-US" sz="2800" b="0" i="0" u="none" strike="noStrike" dirty="0" err="1">
                <a:solidFill>
                  <a:srgbClr val="000000"/>
                </a:solidFill>
                <a:effectLst/>
              </a:rPr>
              <a:t>Retroarch</a:t>
            </a:r>
            <a:r>
              <a:rPr lang="en-US" sz="2800" b="0" i="0" u="none" strike="noStrike" dirty="0">
                <a:solidFill>
                  <a:srgbClr val="000000"/>
                </a:solidFill>
                <a:effectLst/>
              </a:rPr>
              <a:t> and OCR. </a:t>
            </a:r>
            <a:r>
              <a:rPr lang="en-US" sz="2800" b="0" i="0" u="none" strike="noStrike" dirty="0">
                <a:solidFill>
                  <a:srgbClr val="000000"/>
                </a:solidFill>
                <a:effectLst/>
                <a:hlinkClick r:id="rId5"/>
              </a:rPr>
              <a:t>github.com</a:t>
            </a:r>
            <a:endParaRPr lang="en-US" sz="2800" b="0" i="0" u="none" strike="noStrike" dirty="0">
              <a:solidFill>
                <a:srgbClr val="000000"/>
              </a:solidFill>
              <a:effectLst/>
            </a:endParaRPr>
          </a:p>
        </p:txBody>
      </p:sp>
      <p:sp>
        <p:nvSpPr>
          <p:cNvPr id="27" name="Oval 26">
            <a:extLst>
              <a:ext uri="{FF2B5EF4-FFF2-40B4-BE49-F238E27FC236}">
                <a16:creationId xmlns:a16="http://schemas.microsoft.com/office/drawing/2014/main" id="{E205288E-DDF8-F0E2-D462-3ADC157EB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9" name="Oval 28">
            <a:extLst>
              <a:ext uri="{FF2B5EF4-FFF2-40B4-BE49-F238E27FC236}">
                <a16:creationId xmlns:a16="http://schemas.microsoft.com/office/drawing/2014/main" id="{EBCE8841-0032-98E8-9168-8AE31910E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1761838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5C62AD-C19B-5A6E-9DD2-375EFEE4A7D2}"/>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EDE577E-6619-D50E-CD03-AEB2462007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4964F92-D3B1-0CA1-2A1B-6BCF487D13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183FD23E-58A1-597F-7FBC-CD857831D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835B37F0-92C6-498A-A6F0-CE3672B3F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775E239-2E17-72D7-D82B-A324AE7D6E55}"/>
              </a:ext>
            </a:extLst>
          </p:cNvPr>
          <p:cNvSpPr>
            <a:spLocks noGrp="1"/>
          </p:cNvSpPr>
          <p:nvPr>
            <p:ph type="title"/>
          </p:nvPr>
        </p:nvSpPr>
        <p:spPr>
          <a:xfrm>
            <a:off x="1069848" y="484632"/>
            <a:ext cx="10058400" cy="1609344"/>
          </a:xfrm>
        </p:spPr>
        <p:txBody>
          <a:bodyPr>
            <a:normAutofit/>
          </a:bodyPr>
          <a:lstStyle/>
          <a:p>
            <a:pPr marL="0" indent="0" algn="l">
              <a:buNone/>
            </a:pPr>
            <a:r>
              <a:rPr lang="en-US" sz="5400" b="1" i="0" u="none" strike="noStrike" dirty="0">
                <a:solidFill>
                  <a:srgbClr val="000000"/>
                </a:solidFill>
                <a:effectLst/>
              </a:rPr>
              <a:t>Research Papers and White Papers</a:t>
            </a:r>
            <a:endParaRPr lang="en-US" sz="5400" b="0" i="0" u="none" strike="noStrike" dirty="0">
              <a:solidFill>
                <a:srgbClr val="000000"/>
              </a:solidFill>
              <a:effectLst/>
            </a:endParaRPr>
          </a:p>
        </p:txBody>
      </p:sp>
      <p:sp>
        <p:nvSpPr>
          <p:cNvPr id="3" name="Content Placeholder 2">
            <a:extLst>
              <a:ext uri="{FF2B5EF4-FFF2-40B4-BE49-F238E27FC236}">
                <a16:creationId xmlns:a16="http://schemas.microsoft.com/office/drawing/2014/main" id="{DA21A2FE-4B66-09E8-94C2-987AF010D970}"/>
              </a:ext>
            </a:extLst>
          </p:cNvPr>
          <p:cNvSpPr>
            <a:spLocks noGrp="1"/>
          </p:cNvSpPr>
          <p:nvPr>
            <p:ph idx="1"/>
          </p:nvPr>
        </p:nvSpPr>
        <p:spPr>
          <a:xfrm>
            <a:off x="1069848" y="2148600"/>
            <a:ext cx="10058400" cy="4709400"/>
          </a:xfrm>
        </p:spPr>
        <p:txBody>
          <a:bodyPr>
            <a:noAutofit/>
          </a:bodyPr>
          <a:lstStyle/>
          <a:p>
            <a:pPr>
              <a:buFont typeface="Wingdings" pitchFamily="2" charset="2"/>
              <a:buChar char="v"/>
            </a:pPr>
            <a:r>
              <a:rPr lang="en-US" sz="1800" b="0" i="1" u="sng" strike="noStrike" dirty="0">
                <a:solidFill>
                  <a:srgbClr val="000000"/>
                </a:solidFill>
                <a:effectLst/>
              </a:rPr>
              <a:t>“"My Zelda Cane": Strategies Used by Blind Players to Play Visual-Centric Digital Games”:</a:t>
            </a:r>
            <a:r>
              <a:rPr lang="en-US" sz="1800" b="0" strike="noStrike" dirty="0">
                <a:solidFill>
                  <a:srgbClr val="000000"/>
                </a:solidFill>
                <a:effectLst/>
              </a:rPr>
              <a:t> </a:t>
            </a:r>
            <a:r>
              <a:rPr lang="en-US" sz="1800" b="0" i="0" u="none" strike="noStrike" dirty="0">
                <a:solidFill>
                  <a:srgbClr val="000000"/>
                </a:solidFill>
                <a:effectLst/>
              </a:rPr>
              <a:t>The article examines how blind players navigate mainstream games, relying on strategies like memorization, trial-and-error, and audio cues. It analyzes over 70 hours of YouTube videos, highlighting creative strategies and calling for game design improvements to enhance accessibility. </a:t>
            </a:r>
            <a:r>
              <a:rPr lang="en-US" sz="1800" b="0" i="0" u="none" strike="noStrike" dirty="0">
                <a:solidFill>
                  <a:srgbClr val="000000"/>
                </a:solidFill>
                <a:effectLst/>
                <a:hlinkClick r:id="rId4"/>
              </a:rPr>
              <a:t>dl.acm.org</a:t>
            </a:r>
            <a:r>
              <a:rPr lang="en-US" sz="1800" b="0" i="0" u="none" strike="noStrike" dirty="0">
                <a:solidFill>
                  <a:srgbClr val="000000"/>
                </a:solidFill>
                <a:effectLst/>
              </a:rPr>
              <a:t> </a:t>
            </a:r>
          </a:p>
          <a:p>
            <a:r>
              <a:rPr lang="en-US" sz="1800" b="1" i="0" u="none" strike="noStrike" dirty="0">
                <a:solidFill>
                  <a:srgbClr val="000000"/>
                </a:solidFill>
                <a:effectLst/>
              </a:rPr>
              <a:t>Limitations:</a:t>
            </a:r>
            <a:endParaRPr lang="en-US" sz="1800" b="0" i="0" u="none" strike="noStrike" dirty="0">
              <a:solidFill>
                <a:srgbClr val="000000"/>
              </a:solidFill>
              <a:effectLst/>
            </a:endParaRPr>
          </a:p>
          <a:p>
            <a:pPr algn="l">
              <a:buFont typeface="+mj-lt"/>
              <a:buAutoNum type="arabicPeriod"/>
            </a:pPr>
            <a:r>
              <a:rPr lang="en-US" sz="1800" b="0" i="0" u="none" strike="noStrike" dirty="0">
                <a:solidFill>
                  <a:srgbClr val="000000"/>
                </a:solidFill>
                <a:effectLst/>
              </a:rPr>
              <a:t>Relies on YouTube videos, lacking direct input from blind gamers.</a:t>
            </a:r>
          </a:p>
          <a:p>
            <a:pPr algn="l">
              <a:buFont typeface="+mj-lt"/>
              <a:buAutoNum type="arabicPeriod"/>
            </a:pPr>
            <a:r>
              <a:rPr lang="en-US" sz="1800" b="0" i="0" u="none" strike="noStrike" dirty="0">
                <a:solidFill>
                  <a:srgbClr val="000000"/>
                </a:solidFill>
                <a:effectLst/>
              </a:rPr>
              <a:t>Covers only 40 games, missing other genres.</a:t>
            </a:r>
          </a:p>
          <a:p>
            <a:pPr algn="l">
              <a:buFont typeface="+mj-lt"/>
              <a:buAutoNum type="arabicPeriod"/>
            </a:pPr>
            <a:r>
              <a:rPr lang="en-US" sz="1800" b="0" i="0" u="none" strike="noStrike" dirty="0">
                <a:solidFill>
                  <a:srgbClr val="000000"/>
                </a:solidFill>
                <a:effectLst/>
              </a:rPr>
              <a:t>Focuses on English-language content, excluding non-English experiences.</a:t>
            </a:r>
          </a:p>
          <a:p>
            <a:pPr algn="l">
              <a:buFont typeface="+mj-lt"/>
              <a:buAutoNum type="arabicPeriod"/>
            </a:pPr>
            <a:r>
              <a:rPr lang="en-US" sz="1800" b="0" i="0" u="none" strike="noStrike" dirty="0">
                <a:solidFill>
                  <a:srgbClr val="000000"/>
                </a:solidFill>
                <a:effectLst/>
              </a:rPr>
              <a:t>Prioritizes popular videos, potentially missing insights from non-streamers.</a:t>
            </a:r>
          </a:p>
          <a:p>
            <a:pPr algn="l">
              <a:buFont typeface="+mj-lt"/>
              <a:buAutoNum type="arabicPeriod"/>
            </a:pPr>
            <a:r>
              <a:rPr lang="en-US" sz="1800" b="0" i="0" u="none" strike="noStrike" dirty="0">
                <a:solidFill>
                  <a:srgbClr val="000000"/>
                </a:solidFill>
                <a:effectLst/>
              </a:rPr>
              <a:t>Does not include developers' perspectives on accessibility changes.</a:t>
            </a:r>
          </a:p>
          <a:p>
            <a:pPr algn="l">
              <a:buFont typeface="Wingdings" pitchFamily="2" charset="2"/>
              <a:buChar char="v"/>
            </a:pPr>
            <a:r>
              <a:rPr lang="en-US" sz="1800" b="0" u="sng" strike="noStrike" dirty="0">
                <a:solidFill>
                  <a:srgbClr val="000000"/>
                </a:solidFill>
                <a:effectLst/>
              </a:rPr>
              <a:t>Game Accessibility for Visually Impaired People: A Review:</a:t>
            </a:r>
            <a:r>
              <a:rPr lang="en-US" sz="1800" b="0" strike="noStrike" dirty="0">
                <a:solidFill>
                  <a:srgbClr val="000000"/>
                </a:solidFill>
                <a:effectLst/>
              </a:rPr>
              <a:t> </a:t>
            </a:r>
            <a:r>
              <a:rPr lang="en-US" sz="1800" b="0" i="0" u="none" strike="noStrike" dirty="0">
                <a:solidFill>
                  <a:srgbClr val="000000"/>
                </a:solidFill>
                <a:effectLst/>
              </a:rPr>
              <a:t>A comprehensive review discussing the benefits and limitations of game accessibility for visually impaired users. </a:t>
            </a:r>
            <a:r>
              <a:rPr lang="en-US" sz="1800" b="0" i="0" u="none" strike="noStrike" dirty="0">
                <a:solidFill>
                  <a:srgbClr val="000000"/>
                </a:solidFill>
                <a:effectLst/>
                <a:hlinkClick r:id="rId5"/>
              </a:rPr>
              <a:t>link.springer.com</a:t>
            </a:r>
            <a:endParaRPr lang="en-US" sz="1800" b="0" i="0" u="none" strike="noStrike" dirty="0">
              <a:solidFill>
                <a:srgbClr val="000000"/>
              </a:solidFill>
              <a:effectLst/>
            </a:endParaRPr>
          </a:p>
        </p:txBody>
      </p:sp>
      <p:sp>
        <p:nvSpPr>
          <p:cNvPr id="27" name="Oval 26">
            <a:extLst>
              <a:ext uri="{FF2B5EF4-FFF2-40B4-BE49-F238E27FC236}">
                <a16:creationId xmlns:a16="http://schemas.microsoft.com/office/drawing/2014/main" id="{709C1DD2-2340-A86A-D1D5-64DF8B9D7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9" name="Oval 28">
            <a:extLst>
              <a:ext uri="{FF2B5EF4-FFF2-40B4-BE49-F238E27FC236}">
                <a16:creationId xmlns:a16="http://schemas.microsoft.com/office/drawing/2014/main" id="{5A9169EB-2F9C-2134-BFFE-F318125FB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9486422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D207F6-8062-FFF6-85F1-3C843F9280A9}"/>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B6945E2-F184-0EDC-11CD-45D0CE6DCE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F900F04-2560-65B3-65A0-900C6AD6C3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4762B226-DC67-96ED-C18F-3CD6D40390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31BD8FE4-3F8B-652A-9A49-4D44EB8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9CA7FA9-CE18-0603-ABB2-817956E8425C}"/>
              </a:ext>
            </a:extLst>
          </p:cNvPr>
          <p:cNvSpPr>
            <a:spLocks noGrp="1"/>
          </p:cNvSpPr>
          <p:nvPr>
            <p:ph type="title"/>
          </p:nvPr>
        </p:nvSpPr>
        <p:spPr>
          <a:xfrm>
            <a:off x="1069848" y="484632"/>
            <a:ext cx="10058400" cy="1609344"/>
          </a:xfrm>
        </p:spPr>
        <p:txBody>
          <a:bodyPr>
            <a:normAutofit/>
          </a:bodyPr>
          <a:lstStyle/>
          <a:p>
            <a:pPr marL="0" indent="0" algn="l">
              <a:buNone/>
            </a:pPr>
            <a:r>
              <a:rPr lang="en-US" sz="5400" b="1" i="0" u="none" strike="noStrike" dirty="0">
                <a:solidFill>
                  <a:srgbClr val="000000"/>
                </a:solidFill>
                <a:effectLst/>
              </a:rPr>
              <a:t>Key Findings</a:t>
            </a:r>
            <a:endParaRPr lang="en-US" sz="5400" b="0" i="0" u="none" strike="noStrike" dirty="0">
              <a:solidFill>
                <a:srgbClr val="000000"/>
              </a:solidFill>
              <a:effectLst/>
            </a:endParaRPr>
          </a:p>
        </p:txBody>
      </p:sp>
      <p:sp>
        <p:nvSpPr>
          <p:cNvPr id="3" name="Content Placeholder 2">
            <a:extLst>
              <a:ext uri="{FF2B5EF4-FFF2-40B4-BE49-F238E27FC236}">
                <a16:creationId xmlns:a16="http://schemas.microsoft.com/office/drawing/2014/main" id="{833852E1-AD94-DE63-06F2-A24EE8D27C12}"/>
              </a:ext>
            </a:extLst>
          </p:cNvPr>
          <p:cNvSpPr>
            <a:spLocks noGrp="1"/>
          </p:cNvSpPr>
          <p:nvPr>
            <p:ph idx="1"/>
          </p:nvPr>
        </p:nvSpPr>
        <p:spPr>
          <a:xfrm>
            <a:off x="1069848" y="2148600"/>
            <a:ext cx="10058400" cy="4709400"/>
          </a:xfrm>
        </p:spPr>
        <p:txBody>
          <a:bodyPr>
            <a:noAutofit/>
          </a:bodyPr>
          <a:lstStyle/>
          <a:p>
            <a:pPr marL="914400" lvl="1" indent="-457200" algn="l">
              <a:buFont typeface="Wingdings" pitchFamily="2" charset="2"/>
              <a:buChar char="v"/>
            </a:pPr>
            <a:r>
              <a:rPr lang="en-US" sz="2800" b="0" i="0" u="none" strike="noStrike" dirty="0">
                <a:solidFill>
                  <a:srgbClr val="000000"/>
                </a:solidFill>
                <a:effectLst/>
              </a:rPr>
              <a:t>Blind players often develop unique strategies to navigate and interact with games not originally designed for accessibility, such as memorizing layouts and relying on auditory cues. </a:t>
            </a:r>
            <a:r>
              <a:rPr lang="en-US" sz="2800" b="0" i="0" u="none" strike="noStrike" dirty="0">
                <a:solidFill>
                  <a:srgbClr val="000000"/>
                </a:solidFill>
                <a:effectLst/>
                <a:hlinkClick r:id="rId4"/>
              </a:rPr>
              <a:t>dl.acm.org</a:t>
            </a:r>
            <a:endParaRPr lang="en-US" sz="2800" b="0" i="0" u="none" strike="noStrike" dirty="0">
              <a:solidFill>
                <a:srgbClr val="000000"/>
              </a:solidFill>
              <a:effectLst/>
            </a:endParaRPr>
          </a:p>
          <a:p>
            <a:pPr marL="914400" lvl="1" indent="-457200" algn="l">
              <a:buFont typeface="Wingdings" pitchFamily="2" charset="2"/>
              <a:buChar char="v"/>
            </a:pPr>
            <a:r>
              <a:rPr lang="en-US" sz="2800" b="0" i="0" u="none" strike="noStrike" dirty="0">
                <a:solidFill>
                  <a:srgbClr val="000000"/>
                </a:solidFill>
                <a:effectLst/>
              </a:rPr>
              <a:t>The use of spatial audio and haptic feedback can significantly enhance the gaming experience for visually impaired users, making games more immersive and navigable. </a:t>
            </a:r>
            <a:r>
              <a:rPr lang="en-US" sz="2800" b="0" i="0" u="none" strike="noStrike" dirty="0">
                <a:solidFill>
                  <a:srgbClr val="000000"/>
                </a:solidFill>
                <a:effectLst/>
                <a:hlinkClick r:id="rId5"/>
              </a:rPr>
              <a:t>pmc.ncbi.nlm.nih.gov</a:t>
            </a:r>
            <a:endParaRPr lang="en-US" sz="2800" b="0" i="0" u="none" strike="noStrike" dirty="0">
              <a:solidFill>
                <a:srgbClr val="000000"/>
              </a:solidFill>
              <a:effectLst/>
            </a:endParaRPr>
          </a:p>
        </p:txBody>
      </p:sp>
      <p:sp>
        <p:nvSpPr>
          <p:cNvPr id="27" name="Oval 26">
            <a:extLst>
              <a:ext uri="{FF2B5EF4-FFF2-40B4-BE49-F238E27FC236}">
                <a16:creationId xmlns:a16="http://schemas.microsoft.com/office/drawing/2014/main" id="{FE88187C-763F-BC22-E912-F3413AF79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9" name="Oval 28">
            <a:extLst>
              <a:ext uri="{FF2B5EF4-FFF2-40B4-BE49-F238E27FC236}">
                <a16:creationId xmlns:a16="http://schemas.microsoft.com/office/drawing/2014/main" id="{B528B9AA-4D06-4F55-E87E-D71B561AA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3094545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88BB92-48DD-524C-28F2-B9937E8E3DA6}"/>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E2753ED-1999-0940-40FC-EBBD7230B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CA17DE8-84A4-C7F2-929C-FB59172AA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A8544EE8-DE0B-1DC2-5291-D5C3B8D6F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2B73E221-646C-2915-652B-FC9C706C54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39BB050-D213-5A67-255C-1833936283BD}"/>
              </a:ext>
            </a:extLst>
          </p:cNvPr>
          <p:cNvSpPr>
            <a:spLocks noGrp="1"/>
          </p:cNvSpPr>
          <p:nvPr>
            <p:ph type="title"/>
          </p:nvPr>
        </p:nvSpPr>
        <p:spPr>
          <a:xfrm>
            <a:off x="1069848" y="484632"/>
            <a:ext cx="10058400" cy="1609344"/>
          </a:xfrm>
        </p:spPr>
        <p:txBody>
          <a:bodyPr>
            <a:normAutofit/>
          </a:bodyPr>
          <a:lstStyle/>
          <a:p>
            <a:pPr marL="0" indent="0" algn="l">
              <a:buNone/>
            </a:pPr>
            <a:r>
              <a:rPr lang="en-US" sz="5400" b="1" i="0" u="none" strike="noStrike" dirty="0">
                <a:solidFill>
                  <a:srgbClr val="000000"/>
                </a:solidFill>
                <a:effectLst/>
              </a:rPr>
              <a:t>Limitations</a:t>
            </a:r>
            <a:endParaRPr lang="en-US" sz="5400" b="0" i="0" u="none" strike="noStrike" dirty="0">
              <a:solidFill>
                <a:srgbClr val="000000"/>
              </a:solidFill>
              <a:effectLst/>
            </a:endParaRPr>
          </a:p>
        </p:txBody>
      </p:sp>
      <p:sp>
        <p:nvSpPr>
          <p:cNvPr id="3" name="Content Placeholder 2">
            <a:extLst>
              <a:ext uri="{FF2B5EF4-FFF2-40B4-BE49-F238E27FC236}">
                <a16:creationId xmlns:a16="http://schemas.microsoft.com/office/drawing/2014/main" id="{BF940202-B610-87CD-13A5-60B517705678}"/>
              </a:ext>
            </a:extLst>
          </p:cNvPr>
          <p:cNvSpPr>
            <a:spLocks noGrp="1"/>
          </p:cNvSpPr>
          <p:nvPr>
            <p:ph idx="1"/>
          </p:nvPr>
        </p:nvSpPr>
        <p:spPr>
          <a:xfrm>
            <a:off x="1069848" y="2148600"/>
            <a:ext cx="10058400" cy="4709400"/>
          </a:xfrm>
        </p:spPr>
        <p:txBody>
          <a:bodyPr>
            <a:noAutofit/>
          </a:bodyPr>
          <a:lstStyle/>
          <a:p>
            <a:pPr marL="914400" lvl="1" indent="-457200" algn="l">
              <a:buFont typeface="Wingdings" pitchFamily="2" charset="2"/>
              <a:buChar char="v"/>
            </a:pPr>
            <a:r>
              <a:rPr lang="en-US" sz="2800" b="0" i="0" u="none" strike="noStrike" dirty="0">
                <a:solidFill>
                  <a:srgbClr val="000000"/>
                </a:solidFill>
                <a:effectLst/>
              </a:rPr>
              <a:t>Many mainstream games lack built-in accessibility features, requiring external modifications or specialized software to be playable by blind users.</a:t>
            </a:r>
          </a:p>
          <a:p>
            <a:pPr marL="914400" lvl="1" indent="-457200" algn="l">
              <a:buFont typeface="Wingdings" pitchFamily="2" charset="2"/>
              <a:buChar char="v"/>
            </a:pPr>
            <a:r>
              <a:rPr lang="en-US" sz="2800" b="0" i="0" u="none" strike="noStrike" dirty="0">
                <a:solidFill>
                  <a:srgbClr val="000000"/>
                </a:solidFill>
                <a:effectLst/>
              </a:rPr>
              <a:t>The development of accessible games often requires additional resources and considerations, which can be a barrier for some developers. </a:t>
            </a:r>
            <a:r>
              <a:rPr lang="en-US" sz="2800" b="0" i="0" u="none" strike="noStrike" dirty="0">
                <a:solidFill>
                  <a:srgbClr val="000000"/>
                </a:solidFill>
                <a:effectLst/>
                <a:hlinkClick r:id="rId4"/>
              </a:rPr>
              <a:t>link.springer.com</a:t>
            </a:r>
            <a:endParaRPr lang="en-US" sz="2800" b="0" i="0" u="none" strike="noStrike" dirty="0">
              <a:solidFill>
                <a:srgbClr val="000000"/>
              </a:solidFill>
              <a:effectLst/>
            </a:endParaRPr>
          </a:p>
        </p:txBody>
      </p:sp>
      <p:sp>
        <p:nvSpPr>
          <p:cNvPr id="27" name="Oval 26">
            <a:extLst>
              <a:ext uri="{FF2B5EF4-FFF2-40B4-BE49-F238E27FC236}">
                <a16:creationId xmlns:a16="http://schemas.microsoft.com/office/drawing/2014/main" id="{056E09F7-647B-4BCF-6196-47D1C991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9" name="Oval 28">
            <a:extLst>
              <a:ext uri="{FF2B5EF4-FFF2-40B4-BE49-F238E27FC236}">
                <a16:creationId xmlns:a16="http://schemas.microsoft.com/office/drawing/2014/main" id="{83A7185C-D83E-D65E-984D-3B5FBDB60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2119427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E45E6A-B10F-3BC7-CCC9-5FA3262C08B6}"/>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277E9D6-3CE7-AD56-9894-46893FACF2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E784F5C-D5E7-1A3F-E86B-91A70FA4B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246C1667-0AB6-1B9E-3C78-ECA4B37E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Rectangle 24">
            <a:extLst>
              <a:ext uri="{FF2B5EF4-FFF2-40B4-BE49-F238E27FC236}">
                <a16:creationId xmlns:a16="http://schemas.microsoft.com/office/drawing/2014/main" id="{08C5EF3A-70AC-F092-AE72-0D408A0203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B130B57-7A64-6A72-DE05-FE7A6D5F1A58}"/>
              </a:ext>
            </a:extLst>
          </p:cNvPr>
          <p:cNvSpPr>
            <a:spLocks noGrp="1"/>
          </p:cNvSpPr>
          <p:nvPr>
            <p:ph type="title"/>
          </p:nvPr>
        </p:nvSpPr>
        <p:spPr>
          <a:xfrm>
            <a:off x="1069848" y="484632"/>
            <a:ext cx="10058400" cy="1609344"/>
          </a:xfrm>
        </p:spPr>
        <p:txBody>
          <a:bodyPr>
            <a:normAutofit/>
          </a:bodyPr>
          <a:lstStyle/>
          <a:p>
            <a:r>
              <a:rPr lang="en-US" dirty="0"/>
              <a:t>How do 2d first-person games work?</a:t>
            </a:r>
          </a:p>
        </p:txBody>
      </p:sp>
      <p:sp>
        <p:nvSpPr>
          <p:cNvPr id="3" name="Content Placeholder 2">
            <a:extLst>
              <a:ext uri="{FF2B5EF4-FFF2-40B4-BE49-F238E27FC236}">
                <a16:creationId xmlns:a16="http://schemas.microsoft.com/office/drawing/2014/main" id="{30ED9513-8E04-0C5C-0DCA-F91ADDD0C230}"/>
              </a:ext>
            </a:extLst>
          </p:cNvPr>
          <p:cNvSpPr>
            <a:spLocks noGrp="1"/>
          </p:cNvSpPr>
          <p:nvPr>
            <p:ph idx="1"/>
          </p:nvPr>
        </p:nvSpPr>
        <p:spPr>
          <a:xfrm>
            <a:off x="1069848" y="2148600"/>
            <a:ext cx="10058400" cy="4709400"/>
          </a:xfrm>
        </p:spPr>
        <p:txBody>
          <a:bodyPr>
            <a:noAutofit/>
          </a:bodyPr>
          <a:lstStyle/>
          <a:p>
            <a:pPr marL="0" indent="0" fontAlgn="ctr">
              <a:spcAft>
                <a:spcPts val="1500"/>
              </a:spcAft>
              <a:buNone/>
            </a:pPr>
            <a:r>
              <a:rPr lang="en-US" sz="1800" dirty="0">
                <a:effectLst/>
              </a:rPr>
              <a:t>2D first-person games simulate a 3D environment on a 2D plane, using techniques like perspective projection and wall textures to create a sense of depth and immersion, while retaining the simplicity of 2D game development. </a:t>
            </a:r>
          </a:p>
          <a:p>
            <a:pPr fontAlgn="ctr">
              <a:spcAft>
                <a:spcPts val="1500"/>
              </a:spcAft>
              <a:buFont typeface="Wingdings" pitchFamily="2" charset="2"/>
              <a:buChar char="v"/>
            </a:pPr>
            <a:r>
              <a:rPr lang="en-US" sz="1600" b="1" dirty="0">
                <a:effectLst/>
              </a:rPr>
              <a:t>Simulating 3D:</a:t>
            </a:r>
            <a:r>
              <a:rPr lang="en-US" sz="1600" dirty="0"/>
              <a:t> </a:t>
            </a:r>
            <a:r>
              <a:rPr lang="en-US" sz="1600" dirty="0">
                <a:effectLst/>
              </a:rPr>
              <a:t>Instead of a true 3D environment, 2D first-person games use a 2D plane and techniques like perspective projection to make the environment appear three-dimensional. </a:t>
            </a:r>
          </a:p>
          <a:p>
            <a:pPr>
              <a:spcBef>
                <a:spcPts val="750"/>
              </a:spcBef>
              <a:spcAft>
                <a:spcPts val="600"/>
              </a:spcAft>
              <a:buFont typeface="Wingdings" pitchFamily="2" charset="2"/>
              <a:buChar char="v"/>
            </a:pPr>
            <a:r>
              <a:rPr lang="en-US" sz="1600" b="1" dirty="0"/>
              <a:t>2D First-Person Perspective:</a:t>
            </a:r>
            <a:r>
              <a:rPr lang="en-US" sz="1600" dirty="0"/>
              <a:t> Uses a 2D plane with techniques to create the illusion of depth.</a:t>
            </a:r>
          </a:p>
          <a:p>
            <a:pPr>
              <a:spcBef>
                <a:spcPts val="750"/>
              </a:spcBef>
              <a:spcAft>
                <a:spcPts val="600"/>
              </a:spcAft>
              <a:buFont typeface="Wingdings" pitchFamily="2" charset="2"/>
              <a:buChar char="v"/>
            </a:pPr>
            <a:r>
              <a:rPr lang="en-US" sz="1600" b="1" dirty="0"/>
              <a:t>Perspective Projection:</a:t>
            </a:r>
            <a:r>
              <a:rPr lang="en-US" sz="1600" dirty="0"/>
              <a:t> Objects appear smaller as they move further from the player, simulating 3D space.</a:t>
            </a:r>
          </a:p>
          <a:p>
            <a:pPr>
              <a:spcBef>
                <a:spcPts val="750"/>
              </a:spcBef>
              <a:spcAft>
                <a:spcPts val="600"/>
              </a:spcAft>
              <a:buFont typeface="Wingdings" pitchFamily="2" charset="2"/>
              <a:buChar char="v"/>
            </a:pPr>
            <a:r>
              <a:rPr lang="en-US" sz="1600" b="1" dirty="0"/>
              <a:t>Wall Textures:</a:t>
            </a:r>
            <a:r>
              <a:rPr lang="en-US" sz="1600" dirty="0"/>
              <a:t> Stretched and scaled to enhance depth perception.</a:t>
            </a:r>
          </a:p>
          <a:p>
            <a:pPr>
              <a:spcBef>
                <a:spcPts val="750"/>
              </a:spcBef>
              <a:spcAft>
                <a:spcPts val="600"/>
              </a:spcAft>
              <a:buFont typeface="Wingdings" pitchFamily="2" charset="2"/>
              <a:buChar char="v"/>
            </a:pPr>
            <a:r>
              <a:rPr lang="en-US" sz="1600" b="1" dirty="0" err="1"/>
              <a:t>Raycasting</a:t>
            </a:r>
            <a:r>
              <a:rPr lang="en-US" sz="1600" b="1" dirty="0"/>
              <a:t>:</a:t>
            </a:r>
            <a:r>
              <a:rPr lang="en-US" sz="1600" dirty="0"/>
              <a:t> Determines visible objects by tracing rays from the player's position.</a:t>
            </a:r>
          </a:p>
          <a:p>
            <a:pPr>
              <a:spcBef>
                <a:spcPts val="750"/>
              </a:spcBef>
              <a:spcAft>
                <a:spcPts val="600"/>
              </a:spcAft>
              <a:buFont typeface="Wingdings" pitchFamily="2" charset="2"/>
              <a:buChar char="v"/>
            </a:pPr>
            <a:r>
              <a:rPr lang="en-US" sz="1600" b="1" dirty="0"/>
              <a:t>Sectors:</a:t>
            </a:r>
            <a:r>
              <a:rPr lang="en-US" sz="1600" dirty="0"/>
              <a:t> Predefined areas optimize rendering and performance.</a:t>
            </a:r>
          </a:p>
          <a:p>
            <a:pPr>
              <a:spcBef>
                <a:spcPts val="750"/>
              </a:spcBef>
              <a:spcAft>
                <a:spcPts val="600"/>
              </a:spcAft>
              <a:buFont typeface="Wingdings" pitchFamily="2" charset="2"/>
              <a:buChar char="v"/>
            </a:pPr>
            <a:r>
              <a:rPr lang="en-US" sz="1600" b="1" dirty="0"/>
              <a:t>2D Game Engine:</a:t>
            </a:r>
            <a:r>
              <a:rPr lang="en-US" sz="1600" dirty="0"/>
              <a:t> Tools like Tiled help design layouts that can be translated into a 3D-like </a:t>
            </a:r>
            <a:r>
              <a:rPr lang="en-US" sz="1800" dirty="0"/>
              <a:t>view.</a:t>
            </a:r>
            <a:endParaRPr lang="en-US" sz="1800" dirty="0">
              <a:effectLst/>
            </a:endParaRPr>
          </a:p>
        </p:txBody>
      </p:sp>
      <p:sp>
        <p:nvSpPr>
          <p:cNvPr id="27" name="Oval 26">
            <a:extLst>
              <a:ext uri="{FF2B5EF4-FFF2-40B4-BE49-F238E27FC236}">
                <a16:creationId xmlns:a16="http://schemas.microsoft.com/office/drawing/2014/main" id="{AB934DFB-02BF-6EEC-876F-23AF2515D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9" name="Oval 28">
            <a:extLst>
              <a:ext uri="{FF2B5EF4-FFF2-40B4-BE49-F238E27FC236}">
                <a16:creationId xmlns:a16="http://schemas.microsoft.com/office/drawing/2014/main" id="{6C49A41E-F4DE-2DF7-D0EE-2707EAB34D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1556778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F6D117-03FB-A055-7F54-948F69CC5F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399B8-CA40-EEC6-4843-6C2DC490494B}"/>
              </a:ext>
            </a:extLst>
          </p:cNvPr>
          <p:cNvSpPr>
            <a:spLocks noGrp="1"/>
          </p:cNvSpPr>
          <p:nvPr>
            <p:ph type="title"/>
          </p:nvPr>
        </p:nvSpPr>
        <p:spPr>
          <a:xfrm>
            <a:off x="1069848" y="798394"/>
            <a:ext cx="4730451" cy="1637730"/>
          </a:xfrm>
        </p:spPr>
        <p:txBody>
          <a:bodyPr>
            <a:normAutofit/>
          </a:bodyPr>
          <a:lstStyle/>
          <a:p>
            <a:r>
              <a:rPr lang="en-US" dirty="0"/>
              <a:t>My Proposed Approach</a:t>
            </a:r>
          </a:p>
        </p:txBody>
      </p:sp>
      <p:sp>
        <p:nvSpPr>
          <p:cNvPr id="3" name="Content Placeholder 2">
            <a:extLst>
              <a:ext uri="{FF2B5EF4-FFF2-40B4-BE49-F238E27FC236}">
                <a16:creationId xmlns:a16="http://schemas.microsoft.com/office/drawing/2014/main" id="{AF149240-7AF5-594C-F19E-F7FCD03F0517}"/>
              </a:ext>
            </a:extLst>
          </p:cNvPr>
          <p:cNvSpPr>
            <a:spLocks noGrp="1"/>
          </p:cNvSpPr>
          <p:nvPr>
            <p:ph idx="1"/>
          </p:nvPr>
        </p:nvSpPr>
        <p:spPr>
          <a:xfrm>
            <a:off x="1069848" y="2578608"/>
            <a:ext cx="4730451" cy="3593592"/>
          </a:xfrm>
        </p:spPr>
        <p:txBody>
          <a:bodyPr>
            <a:normAutofit/>
          </a:bodyPr>
          <a:lstStyle/>
          <a:p>
            <a:pPr marL="0" indent="0">
              <a:buNone/>
            </a:pPr>
            <a:r>
              <a:rPr lang="en-US" sz="1800" b="1" u="sng" strike="noStrike" dirty="0">
                <a:effectLst/>
                <a:latin typeface="-webkit-standard"/>
              </a:rPr>
              <a:t>Using an AI pipeline to process real-time gameplay:</a:t>
            </a:r>
          </a:p>
          <a:p>
            <a:pPr>
              <a:buFont typeface="Wingdings" pitchFamily="2" charset="2"/>
              <a:buChar char="Ø"/>
            </a:pPr>
            <a:r>
              <a:rPr lang="en-US" sz="1800" b="1" i="0" u="none" strike="noStrike" dirty="0">
                <a:effectLst/>
              </a:rPr>
              <a:t>Step 1:</a:t>
            </a:r>
            <a:r>
              <a:rPr lang="en-US" sz="1800" b="0" i="0" u="none" strike="noStrike" dirty="0">
                <a:effectLst/>
              </a:rPr>
              <a:t> Capture screenshots at high frequency (i.e.: every 1 millisecond).</a:t>
            </a:r>
          </a:p>
          <a:p>
            <a:pPr>
              <a:buFont typeface="Wingdings" pitchFamily="2" charset="2"/>
              <a:buChar char="Ø"/>
            </a:pPr>
            <a:r>
              <a:rPr lang="en-US" sz="1800" b="1" i="0" u="none" strike="noStrike" dirty="0">
                <a:effectLst/>
              </a:rPr>
              <a:t>Step 2:</a:t>
            </a:r>
            <a:r>
              <a:rPr lang="en-US" sz="1800" b="0" i="0" u="none" strike="noStrike" dirty="0">
                <a:effectLst/>
              </a:rPr>
              <a:t> Feed the images into an LLM trained (prompted) to generate descriptive game text based on the inputted images. (My suggestion is using </a:t>
            </a:r>
            <a:r>
              <a:rPr lang="en-US" sz="1800" b="0" i="0" u="none" strike="noStrike" dirty="0" err="1">
                <a:effectLst/>
              </a:rPr>
              <a:t>groq</a:t>
            </a:r>
            <a:r>
              <a:rPr lang="en-US" sz="1800" b="0" i="0" u="none" strike="noStrike" dirty="0">
                <a:effectLst/>
              </a:rPr>
              <a:t> because it’s currently the fastest AI interface)</a:t>
            </a:r>
          </a:p>
          <a:p>
            <a:pPr>
              <a:buFont typeface="Wingdings" pitchFamily="2" charset="2"/>
              <a:buChar char="Ø"/>
            </a:pPr>
            <a:r>
              <a:rPr lang="en-US" sz="1800" b="1" i="0" u="none" strike="noStrike" dirty="0">
                <a:effectLst/>
              </a:rPr>
              <a:t>Step 3:</a:t>
            </a:r>
            <a:r>
              <a:rPr lang="en-US" sz="1800" b="0" i="0" u="none" strike="noStrike" dirty="0">
                <a:effectLst/>
              </a:rPr>
              <a:t> Convert text into speech using tools like </a:t>
            </a:r>
            <a:r>
              <a:rPr lang="en-US" sz="1800" b="0" i="0" u="none" strike="noStrike" dirty="0" err="1">
                <a:effectLst/>
              </a:rPr>
              <a:t>DeepGram</a:t>
            </a:r>
            <a:r>
              <a:rPr lang="en-US" sz="1800" b="0" i="0" u="none" strike="noStrike" dirty="0">
                <a:effectLst/>
              </a:rPr>
              <a:t> Aura.</a:t>
            </a:r>
          </a:p>
        </p:txBody>
      </p:sp>
      <p:pic>
        <p:nvPicPr>
          <p:cNvPr id="27" name="Picture 26" descr="Technological background">
            <a:extLst>
              <a:ext uri="{FF2B5EF4-FFF2-40B4-BE49-F238E27FC236}">
                <a16:creationId xmlns:a16="http://schemas.microsoft.com/office/drawing/2014/main" id="{A5B3020F-0177-3113-DD9A-E64426ED8680}"/>
              </a:ext>
            </a:extLst>
          </p:cNvPr>
          <p:cNvPicPr>
            <a:picLocks noChangeAspect="1"/>
          </p:cNvPicPr>
          <p:nvPr/>
        </p:nvPicPr>
        <p:blipFill>
          <a:blip r:embed="rId2"/>
          <a:srcRect l="11976" r="26910" b="-1"/>
          <a:stretch/>
        </p:blipFill>
        <p:spPr>
          <a:xfrm>
            <a:off x="5913124" y="10"/>
            <a:ext cx="6278877" cy="6857990"/>
          </a:xfrm>
          <a:custGeom>
            <a:avLst/>
            <a:gdLst/>
            <a:ahLst/>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p:spPr>
      </p:pic>
      <p:sp>
        <p:nvSpPr>
          <p:cNvPr id="42" name="Freeform: Shape 41">
            <a:extLst>
              <a:ext uri="{FF2B5EF4-FFF2-40B4-BE49-F238E27FC236}">
                <a16:creationId xmlns:a16="http://schemas.microsoft.com/office/drawing/2014/main" id="{484E34F7-E155-426C-A88E-8AEA6CF3F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3" y="0"/>
            <a:ext cx="6278877" cy="6858000"/>
          </a:xfrm>
          <a:custGeom>
            <a:avLst/>
            <a:gdLst>
              <a:gd name="connsiteX0" fmla="*/ 45571 w 6278877"/>
              <a:gd name="connsiteY0" fmla="*/ 0 h 6858000"/>
              <a:gd name="connsiteX1" fmla="*/ 6278877 w 6278877"/>
              <a:gd name="connsiteY1" fmla="*/ 0 h 6858000"/>
              <a:gd name="connsiteX2" fmla="*/ 6278877 w 6278877"/>
              <a:gd name="connsiteY2" fmla="*/ 6858000 h 6858000"/>
              <a:gd name="connsiteX3" fmla="*/ 3292307 w 6278877"/>
              <a:gd name="connsiteY3" fmla="*/ 6858000 h 6858000"/>
              <a:gd name="connsiteX4" fmla="*/ 3181525 w 6278877"/>
              <a:gd name="connsiteY4" fmla="*/ 6786980 h 6858000"/>
              <a:gd name="connsiteX5" fmla="*/ 0 w 6278877"/>
              <a:gd name="connsiteY5" fmla="*/ 803252 h 6858000"/>
              <a:gd name="connsiteX6" fmla="*/ 37255 w 6278877"/>
              <a:gd name="connsiteY6" fmla="*/ 654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7" h="6858000">
                <a:moveTo>
                  <a:pt x="45571" y="0"/>
                </a:moveTo>
                <a:lnTo>
                  <a:pt x="6278877" y="0"/>
                </a:lnTo>
                <a:lnTo>
                  <a:pt x="6278877" y="6858000"/>
                </a:lnTo>
                <a:lnTo>
                  <a:pt x="3292307" y="6858000"/>
                </a:lnTo>
                <a:lnTo>
                  <a:pt x="3181525" y="6786980"/>
                </a:lnTo>
                <a:cubicBezTo>
                  <a:pt x="1262020" y="5490189"/>
                  <a:pt x="0" y="3294101"/>
                  <a:pt x="0" y="803252"/>
                </a:cubicBezTo>
                <a:cubicBezTo>
                  <a:pt x="0" y="554167"/>
                  <a:pt x="12619" y="308030"/>
                  <a:pt x="37255" y="65445"/>
                </a:cubicBezTo>
                <a:close/>
              </a:path>
            </a:pathLst>
          </a:cu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218071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E3D8A2-442D-DD29-5B98-14422F8211B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75222FF-96DB-C16B-2E1B-52503667DE81}"/>
              </a:ext>
            </a:extLst>
          </p:cNvPr>
          <p:cNvSpPr>
            <a:spLocks noGrp="1"/>
          </p:cNvSpPr>
          <p:nvPr>
            <p:ph type="title"/>
          </p:nvPr>
        </p:nvSpPr>
        <p:spPr>
          <a:xfrm>
            <a:off x="1069848" y="484632"/>
            <a:ext cx="10058400" cy="1609344"/>
          </a:xfrm>
        </p:spPr>
        <p:txBody>
          <a:bodyPr>
            <a:normAutofit/>
          </a:bodyPr>
          <a:lstStyle/>
          <a:p>
            <a:pPr marL="0" indent="0">
              <a:buNone/>
            </a:pPr>
            <a:r>
              <a:rPr lang="en-US" sz="5400" dirty="0"/>
              <a:t>Prototyping </a:t>
            </a:r>
            <a:r>
              <a:rPr lang="en-US" dirty="0"/>
              <a:t>the </a:t>
            </a:r>
            <a:r>
              <a:rPr lang="en-US" sz="5400" dirty="0"/>
              <a:t>Idea</a:t>
            </a:r>
            <a:endParaRPr lang="en-US" b="0" i="0" u="none" strike="noStrike" dirty="0">
              <a:effectLst/>
            </a:endParaRP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pic>
        <p:nvPicPr>
          <p:cNvPr id="6" name="Picture 2" descr="Rogue Shooter: The FPS Roguelike | First Person Saturday | TechRaptor">
            <a:extLst>
              <a:ext uri="{FF2B5EF4-FFF2-40B4-BE49-F238E27FC236}">
                <a16:creationId xmlns:a16="http://schemas.microsoft.com/office/drawing/2014/main" id="{AC5A52E0-18C9-1BAD-EDBF-F5DD8FBEDF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793" y="2410390"/>
            <a:ext cx="3035773" cy="1700033"/>
          </a:xfrm>
          <a:prstGeom prst="rect">
            <a:avLst/>
          </a:prstGeom>
          <a:noFill/>
          <a:extLst>
            <a:ext uri="{909E8E84-426E-40DD-AFC4-6F175D3DCCD1}">
              <a14:hiddenFill xmlns:a14="http://schemas.microsoft.com/office/drawing/2010/main">
                <a:solidFill>
                  <a:srgbClr val="FFFFFF"/>
                </a:solidFill>
              </a14:hiddenFill>
            </a:ext>
          </a:extLst>
        </p:spPr>
      </p:pic>
      <p:sp>
        <p:nvSpPr>
          <p:cNvPr id="9" name="Right Arrow 8">
            <a:extLst>
              <a:ext uri="{FF2B5EF4-FFF2-40B4-BE49-F238E27FC236}">
                <a16:creationId xmlns:a16="http://schemas.microsoft.com/office/drawing/2014/main" id="{00E651A7-18DC-4A60-A292-A432E89B94DF}"/>
              </a:ext>
            </a:extLst>
          </p:cNvPr>
          <p:cNvSpPr/>
          <p:nvPr/>
        </p:nvSpPr>
        <p:spPr>
          <a:xfrm>
            <a:off x="3339567" y="3104442"/>
            <a:ext cx="700806" cy="3886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World's First Language Processing Unit 🚀 🚀 🚀 - YouTube">
            <a:extLst>
              <a:ext uri="{FF2B5EF4-FFF2-40B4-BE49-F238E27FC236}">
                <a16:creationId xmlns:a16="http://schemas.microsoft.com/office/drawing/2014/main" id="{71717270-0819-767E-8400-FCA327FC06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0372" y="2410390"/>
            <a:ext cx="3306725" cy="1700033"/>
          </a:xfrm>
          <a:prstGeom prst="rect">
            <a:avLst/>
          </a:prstGeom>
          <a:noFill/>
          <a:extLst>
            <a:ext uri="{909E8E84-426E-40DD-AFC4-6F175D3DCCD1}">
              <a14:hiddenFill xmlns:a14="http://schemas.microsoft.com/office/drawing/2010/main">
                <a:solidFill>
                  <a:srgbClr val="FFFFFF"/>
                </a:solidFill>
              </a14:hiddenFill>
            </a:ext>
          </a:extLst>
        </p:spPr>
      </p:pic>
      <p:sp>
        <p:nvSpPr>
          <p:cNvPr id="11" name="Right Arrow 10">
            <a:extLst>
              <a:ext uri="{FF2B5EF4-FFF2-40B4-BE49-F238E27FC236}">
                <a16:creationId xmlns:a16="http://schemas.microsoft.com/office/drawing/2014/main" id="{E6468994-E84F-4044-22BE-F83429E88661}"/>
              </a:ext>
            </a:extLst>
          </p:cNvPr>
          <p:cNvSpPr/>
          <p:nvPr/>
        </p:nvSpPr>
        <p:spPr>
          <a:xfrm>
            <a:off x="7347097" y="3040317"/>
            <a:ext cx="700806" cy="3886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Text">
            <a:extLst>
              <a:ext uri="{FF2B5EF4-FFF2-40B4-BE49-F238E27FC236}">
                <a16:creationId xmlns:a16="http://schemas.microsoft.com/office/drawing/2014/main" id="{75366292-9E2B-91E0-9AC0-7B7804EAC2D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47903" y="3295924"/>
            <a:ext cx="2671850" cy="81449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Game Text Game Glitch Stock Illustrations – 1,311 Game Text Game Glitch  Stock Illustrations, Vectors &amp; Clipart - Dreamstime">
            <a:extLst>
              <a:ext uri="{FF2B5EF4-FFF2-40B4-BE49-F238E27FC236}">
                <a16:creationId xmlns:a16="http://schemas.microsoft.com/office/drawing/2014/main" id="{1373AA3E-C391-F35F-BADB-1C3F6D32CAF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47903" y="2410390"/>
            <a:ext cx="2671850" cy="885534"/>
          </a:xfrm>
          <a:prstGeom prst="rect">
            <a:avLst/>
          </a:prstGeom>
          <a:noFill/>
          <a:extLst>
            <a:ext uri="{909E8E84-426E-40DD-AFC4-6F175D3DCCD1}">
              <a14:hiddenFill xmlns:a14="http://schemas.microsoft.com/office/drawing/2010/main">
                <a:solidFill>
                  <a:srgbClr val="FFFFFF"/>
                </a:solidFill>
              </a14:hiddenFill>
            </a:ext>
          </a:extLst>
        </p:spPr>
      </p:pic>
      <p:sp>
        <p:nvSpPr>
          <p:cNvPr id="15" name="Bent Arrow 14">
            <a:extLst>
              <a:ext uri="{FF2B5EF4-FFF2-40B4-BE49-F238E27FC236}">
                <a16:creationId xmlns:a16="http://schemas.microsoft.com/office/drawing/2014/main" id="{E8459E1E-0814-F4F8-842E-80D31516A017}"/>
              </a:ext>
            </a:extLst>
          </p:cNvPr>
          <p:cNvSpPr/>
          <p:nvPr/>
        </p:nvSpPr>
        <p:spPr>
          <a:xfrm rot="10800000">
            <a:off x="8047903" y="4110420"/>
            <a:ext cx="1553297" cy="1700033"/>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056" name="Picture 8" descr="Text to Speech API: Human-like Text to Speech for real-time AI agents |  Deepgram">
            <a:extLst>
              <a:ext uri="{FF2B5EF4-FFF2-40B4-BE49-F238E27FC236}">
                <a16:creationId xmlns:a16="http://schemas.microsoft.com/office/drawing/2014/main" id="{6003CFA2-7F8F-99E9-D036-F3BD1D2BA0B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95553" y="4401475"/>
            <a:ext cx="3752350" cy="2090398"/>
          </a:xfrm>
          <a:prstGeom prst="rect">
            <a:avLst/>
          </a:prstGeom>
          <a:noFill/>
          <a:extLst>
            <a:ext uri="{909E8E84-426E-40DD-AFC4-6F175D3DCCD1}">
              <a14:hiddenFill xmlns:a14="http://schemas.microsoft.com/office/drawing/2010/main">
                <a:solidFill>
                  <a:srgbClr val="FFFFFF"/>
                </a:solidFill>
              </a14:hiddenFill>
            </a:ext>
          </a:extLst>
        </p:spPr>
      </p:pic>
      <p:sp>
        <p:nvSpPr>
          <p:cNvPr id="17" name="Right Arrow 16">
            <a:extLst>
              <a:ext uri="{FF2B5EF4-FFF2-40B4-BE49-F238E27FC236}">
                <a16:creationId xmlns:a16="http://schemas.microsoft.com/office/drawing/2014/main" id="{E2DF5028-10D5-0D93-CBF2-5A0BB5792258}"/>
              </a:ext>
            </a:extLst>
          </p:cNvPr>
          <p:cNvSpPr/>
          <p:nvPr/>
        </p:nvSpPr>
        <p:spPr>
          <a:xfrm rot="10800000">
            <a:off x="3339565" y="5212429"/>
            <a:ext cx="955988" cy="46849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8" name="Picture 10" descr="Narration Breaking Out! | The Prisoner Released">
            <a:extLst>
              <a:ext uri="{FF2B5EF4-FFF2-40B4-BE49-F238E27FC236}">
                <a16:creationId xmlns:a16="http://schemas.microsoft.com/office/drawing/2014/main" id="{757225F5-863C-AE0E-7780-BB56D58A23C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3794" y="4404011"/>
            <a:ext cx="3036188" cy="2087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49960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13CC54-B193-85AA-3B97-F18F7F80694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79A1238-8769-6886-6597-715682DE3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F758F12-D148-3189-DF97-0B96C6E844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5FF859A-E6CB-C7AC-6C50-F5584CA13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B24265-23AE-ECBB-D625-B86FDBA17ACA}"/>
              </a:ext>
            </a:extLst>
          </p:cNvPr>
          <p:cNvSpPr>
            <a:spLocks noGrp="1"/>
          </p:cNvSpPr>
          <p:nvPr>
            <p:ph type="title"/>
          </p:nvPr>
        </p:nvSpPr>
        <p:spPr>
          <a:xfrm>
            <a:off x="1286934" y="1465790"/>
            <a:ext cx="3860798" cy="3941345"/>
          </a:xfrm>
        </p:spPr>
        <p:txBody>
          <a:bodyPr>
            <a:normAutofit/>
          </a:bodyPr>
          <a:lstStyle/>
          <a:p>
            <a:r>
              <a:rPr lang="en-US" sz="5900" dirty="0"/>
              <a:t>Tools &amp; Technologies</a:t>
            </a:r>
          </a:p>
        </p:txBody>
      </p:sp>
      <p:sp>
        <p:nvSpPr>
          <p:cNvPr id="3" name="Content Placeholder 2">
            <a:extLst>
              <a:ext uri="{FF2B5EF4-FFF2-40B4-BE49-F238E27FC236}">
                <a16:creationId xmlns:a16="http://schemas.microsoft.com/office/drawing/2014/main" id="{7DEB4398-1777-61C3-43AA-CD91928C05E9}"/>
              </a:ext>
            </a:extLst>
          </p:cNvPr>
          <p:cNvSpPr>
            <a:spLocks noGrp="1"/>
          </p:cNvSpPr>
          <p:nvPr>
            <p:ph idx="1"/>
          </p:nvPr>
        </p:nvSpPr>
        <p:spPr>
          <a:xfrm>
            <a:off x="6417733" y="1359090"/>
            <a:ext cx="5132665" cy="4048046"/>
          </a:xfrm>
        </p:spPr>
        <p:txBody>
          <a:bodyPr anchor="ctr">
            <a:normAutofit/>
          </a:bodyPr>
          <a:lstStyle/>
          <a:p>
            <a:pPr>
              <a:buFont typeface="Wingdings" pitchFamily="2" charset="2"/>
              <a:buChar char="v"/>
            </a:pPr>
            <a:r>
              <a:rPr lang="en-US" b="1" dirty="0"/>
              <a:t>Sora (OpenAI):</a:t>
            </a:r>
            <a:r>
              <a:rPr lang="en-US" dirty="0"/>
              <a:t> Potential for AI-generated environments.</a:t>
            </a:r>
          </a:p>
          <a:p>
            <a:pPr>
              <a:buFont typeface="Wingdings" pitchFamily="2" charset="2"/>
              <a:buChar char="v"/>
            </a:pPr>
            <a:r>
              <a:rPr lang="en-US" b="1" dirty="0" err="1"/>
              <a:t>Groq</a:t>
            </a:r>
            <a:r>
              <a:rPr lang="en-US" b="1" dirty="0"/>
              <a:t>:</a:t>
            </a:r>
            <a:r>
              <a:rPr lang="en-US" dirty="0"/>
              <a:t> Fastest AI interface but lower-quality LLM for real-time narration.</a:t>
            </a:r>
          </a:p>
          <a:p>
            <a:pPr>
              <a:buFont typeface="Wingdings" pitchFamily="2" charset="2"/>
              <a:buChar char="v"/>
            </a:pPr>
            <a:r>
              <a:rPr lang="en-US" b="1" dirty="0" err="1"/>
              <a:t>DeepGram</a:t>
            </a:r>
            <a:r>
              <a:rPr lang="en-US" b="1" dirty="0"/>
              <a:t> Aura:</a:t>
            </a:r>
            <a:r>
              <a:rPr lang="en-US" dirty="0"/>
              <a:t> Real-time text-to-speech conversion.</a:t>
            </a:r>
          </a:p>
          <a:p>
            <a:pPr>
              <a:buFont typeface="Wingdings" pitchFamily="2" charset="2"/>
              <a:buChar char="v"/>
            </a:pPr>
            <a:r>
              <a:rPr lang="en-US" b="1" dirty="0"/>
              <a:t>Open-source AI models:</a:t>
            </a:r>
            <a:r>
              <a:rPr lang="en-US" dirty="0"/>
              <a:t> Customizable solutions for video-to-text.</a:t>
            </a:r>
          </a:p>
        </p:txBody>
      </p:sp>
      <p:sp>
        <p:nvSpPr>
          <p:cNvPr id="14" name="Rectangle 13">
            <a:extLst>
              <a:ext uri="{FF2B5EF4-FFF2-40B4-BE49-F238E27FC236}">
                <a16:creationId xmlns:a16="http://schemas.microsoft.com/office/drawing/2014/main" id="{842831B0-FE58-869C-91CC-8097093FB1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02633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18B7ED-DA91-A985-F540-6804231FABC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BAFFD7A-111D-0229-7881-F96732962B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A05ADF-8D21-5DDD-4D61-B37829825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53241"/>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1154C5F-01AC-0401-0F7A-1822C088B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2" y="822324"/>
            <a:ext cx="5149596" cy="5228279"/>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7C2310-35EC-CB74-203E-5E2E5AF7E6B5}"/>
              </a:ext>
            </a:extLst>
          </p:cNvPr>
          <p:cNvSpPr>
            <a:spLocks noGrp="1"/>
          </p:cNvSpPr>
          <p:nvPr>
            <p:ph type="title"/>
          </p:nvPr>
        </p:nvSpPr>
        <p:spPr>
          <a:xfrm>
            <a:off x="1286934" y="1465790"/>
            <a:ext cx="3860798" cy="3941345"/>
          </a:xfrm>
        </p:spPr>
        <p:txBody>
          <a:bodyPr>
            <a:normAutofit/>
          </a:bodyPr>
          <a:lstStyle/>
          <a:p>
            <a:r>
              <a:rPr lang="en-US" sz="5000" dirty="0"/>
              <a:t>Challenges &amp; Considerations</a:t>
            </a:r>
          </a:p>
        </p:txBody>
      </p:sp>
      <p:sp>
        <p:nvSpPr>
          <p:cNvPr id="3" name="Content Placeholder 2">
            <a:extLst>
              <a:ext uri="{FF2B5EF4-FFF2-40B4-BE49-F238E27FC236}">
                <a16:creationId xmlns:a16="http://schemas.microsoft.com/office/drawing/2014/main" id="{2FF0C296-CD75-BFB6-0EA8-44B9BDFB3F3F}"/>
              </a:ext>
            </a:extLst>
          </p:cNvPr>
          <p:cNvSpPr>
            <a:spLocks noGrp="1"/>
          </p:cNvSpPr>
          <p:nvPr>
            <p:ph idx="1"/>
          </p:nvPr>
        </p:nvSpPr>
        <p:spPr>
          <a:xfrm>
            <a:off x="6417733" y="1359090"/>
            <a:ext cx="5132665" cy="4048046"/>
          </a:xfrm>
        </p:spPr>
        <p:txBody>
          <a:bodyPr anchor="ctr">
            <a:normAutofit/>
          </a:bodyPr>
          <a:lstStyle/>
          <a:p>
            <a:pPr>
              <a:buFont typeface="Wingdings" pitchFamily="2" charset="2"/>
              <a:buChar char="v"/>
            </a:pPr>
            <a:r>
              <a:rPr lang="en-US" sz="2400" dirty="0"/>
              <a:t>Latency in processing and delivering narration.</a:t>
            </a:r>
          </a:p>
          <a:p>
            <a:pPr>
              <a:buFont typeface="Wingdings" pitchFamily="2" charset="2"/>
              <a:buChar char="v"/>
            </a:pPr>
            <a:r>
              <a:rPr lang="en-US" sz="2400" dirty="0"/>
              <a:t>Quality of descriptions—ensuring they are concise and useful.</a:t>
            </a:r>
          </a:p>
          <a:p>
            <a:pPr>
              <a:buFont typeface="Wingdings" pitchFamily="2" charset="2"/>
              <a:buChar char="v"/>
            </a:pPr>
            <a:r>
              <a:rPr lang="en-US" sz="2400" dirty="0"/>
              <a:t>User customization: Different players might need different narration speeds or levels of detail.</a:t>
            </a:r>
          </a:p>
        </p:txBody>
      </p:sp>
      <p:sp>
        <p:nvSpPr>
          <p:cNvPr id="14" name="Rectangle 13">
            <a:extLst>
              <a:ext uri="{FF2B5EF4-FFF2-40B4-BE49-F238E27FC236}">
                <a16:creationId xmlns:a16="http://schemas.microsoft.com/office/drawing/2014/main" id="{2580A84D-ED5E-8B7C-1E78-240CECCD89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4" y="6121662"/>
            <a:ext cx="109087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3755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9EA3EA-31A5-5C21-0365-16977ACA46C4}"/>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12188656"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800ED3-21B3-2EEE-28E8-52A18B79A6C3}"/>
              </a:ext>
            </a:extLst>
          </p:cNvPr>
          <p:cNvSpPr>
            <a:spLocks noGrp="1"/>
          </p:cNvSpPr>
          <p:nvPr>
            <p:ph type="title"/>
          </p:nvPr>
        </p:nvSpPr>
        <p:spPr>
          <a:xfrm>
            <a:off x="4970109" y="484632"/>
            <a:ext cx="6730277" cy="1609344"/>
          </a:xfrm>
          <a:ln>
            <a:noFill/>
          </a:ln>
        </p:spPr>
        <p:txBody>
          <a:bodyPr>
            <a:normAutofit/>
          </a:bodyPr>
          <a:lstStyle/>
          <a:p>
            <a:r>
              <a:rPr lang="en-US" sz="4800"/>
              <a:t>Conclusion &amp; Next Steps</a:t>
            </a:r>
          </a:p>
        </p:txBody>
      </p:sp>
      <p:pic>
        <p:nvPicPr>
          <p:cNvPr id="16" name="Picture 15" descr="3D black and red cube illustration">
            <a:extLst>
              <a:ext uri="{FF2B5EF4-FFF2-40B4-BE49-F238E27FC236}">
                <a16:creationId xmlns:a16="http://schemas.microsoft.com/office/drawing/2014/main" id="{1DAD76EA-3EFC-14BA-F0FC-EA28C002D294}"/>
              </a:ext>
            </a:extLst>
          </p:cNvPr>
          <p:cNvPicPr>
            <a:picLocks noChangeAspect="1"/>
          </p:cNvPicPr>
          <p:nvPr/>
        </p:nvPicPr>
        <p:blipFill>
          <a:blip r:embed="rId5"/>
          <a:srcRect l="25378" r="33968"/>
          <a:stretch/>
        </p:blipFill>
        <p:spPr>
          <a:xfrm>
            <a:off x="0" y="10"/>
            <a:ext cx="4646726" cy="6857990"/>
          </a:xfrm>
          <a:prstGeom prst="rect">
            <a:avLst/>
          </a:prstGeom>
        </p:spPr>
      </p:pic>
      <p:sp>
        <p:nvSpPr>
          <p:cNvPr id="3" name="Content Placeholder 2">
            <a:extLst>
              <a:ext uri="{FF2B5EF4-FFF2-40B4-BE49-F238E27FC236}">
                <a16:creationId xmlns:a16="http://schemas.microsoft.com/office/drawing/2014/main" id="{77F3499C-9D46-FE05-48E4-9F60FD68F055}"/>
              </a:ext>
            </a:extLst>
          </p:cNvPr>
          <p:cNvSpPr>
            <a:spLocks noGrp="1"/>
          </p:cNvSpPr>
          <p:nvPr>
            <p:ph idx="1"/>
          </p:nvPr>
        </p:nvSpPr>
        <p:spPr>
          <a:xfrm>
            <a:off x="4970109" y="1759901"/>
            <a:ext cx="6566217" cy="4050792"/>
          </a:xfrm>
        </p:spPr>
        <p:txBody>
          <a:bodyPr>
            <a:noAutofit/>
          </a:bodyPr>
          <a:lstStyle/>
          <a:p>
            <a:pPr marL="0" indent="0">
              <a:buNone/>
            </a:pPr>
            <a:r>
              <a:rPr lang="en-US" sz="1500" b="1" dirty="0"/>
              <a:t>Summary of Findings:</a:t>
            </a:r>
            <a:endParaRPr lang="en-US" sz="1500" dirty="0"/>
          </a:p>
          <a:p>
            <a:pPr>
              <a:buFont typeface="Wingdings" pitchFamily="2" charset="2"/>
              <a:buChar char="v"/>
            </a:pPr>
            <a:r>
              <a:rPr lang="en-US" sz="1500" dirty="0"/>
              <a:t>2D first-person games can effectively simulate a 3D environment using techniques like perspective projection, </a:t>
            </a:r>
            <a:r>
              <a:rPr lang="en-US" sz="1500" dirty="0" err="1"/>
              <a:t>raycasting</a:t>
            </a:r>
            <a:r>
              <a:rPr lang="en-US" sz="1500" dirty="0"/>
              <a:t>, and wall textures.</a:t>
            </a:r>
          </a:p>
          <a:p>
            <a:pPr>
              <a:buFont typeface="Wingdings" pitchFamily="2" charset="2"/>
              <a:buChar char="v"/>
            </a:pPr>
            <a:r>
              <a:rPr lang="en-US" sz="1500" dirty="0"/>
              <a:t>Video-to-text-to-speech technology can enhance accessibility for blind players by narrating in-game events in real-time.</a:t>
            </a:r>
          </a:p>
          <a:p>
            <a:pPr>
              <a:buFont typeface="Wingdings" pitchFamily="2" charset="2"/>
              <a:buChar char="v"/>
            </a:pPr>
            <a:r>
              <a:rPr lang="en-US" sz="1500" dirty="0"/>
              <a:t>Existing research and tools provide a foundation, but there are limitations in accuracy, latency, and user experience.</a:t>
            </a:r>
          </a:p>
          <a:p>
            <a:pPr marL="0" indent="0">
              <a:buNone/>
            </a:pPr>
            <a:r>
              <a:rPr lang="en-US" sz="1500" b="1" dirty="0"/>
              <a:t>Possible Improvements:</a:t>
            </a:r>
            <a:endParaRPr lang="en-US" sz="1500" dirty="0"/>
          </a:p>
          <a:p>
            <a:pPr>
              <a:buFont typeface="Wingdings" pitchFamily="2" charset="2"/>
              <a:buChar char="v"/>
            </a:pPr>
            <a:r>
              <a:rPr lang="en-US" sz="1500" dirty="0"/>
              <a:t>Enhance real-time narration accuracy with advanced AI models.</a:t>
            </a:r>
          </a:p>
          <a:p>
            <a:pPr>
              <a:buFont typeface="Wingdings" pitchFamily="2" charset="2"/>
              <a:buChar char="v"/>
            </a:pPr>
            <a:r>
              <a:rPr lang="en-US" sz="1500" dirty="0"/>
              <a:t>Optimize performance for smoother gameplay and lower latency.</a:t>
            </a:r>
          </a:p>
          <a:p>
            <a:pPr>
              <a:buFont typeface="Wingdings" pitchFamily="2" charset="2"/>
              <a:buChar char="v"/>
            </a:pPr>
            <a:r>
              <a:rPr lang="en-US" sz="1500" dirty="0"/>
              <a:t>Improve user customization options for better accessibility.</a:t>
            </a:r>
          </a:p>
          <a:p>
            <a:pPr marL="0" indent="0">
              <a:buNone/>
            </a:pPr>
            <a:r>
              <a:rPr lang="en-US" sz="1500" b="1" dirty="0"/>
              <a:t>Future Work:</a:t>
            </a:r>
            <a:endParaRPr lang="en-US" sz="1500" dirty="0"/>
          </a:p>
          <a:p>
            <a:pPr>
              <a:buFont typeface="Wingdings" pitchFamily="2" charset="2"/>
              <a:buChar char="v"/>
            </a:pPr>
            <a:r>
              <a:rPr lang="en-US" sz="1500" dirty="0"/>
              <a:t>Conduct user testing with blind players to gather feedback.</a:t>
            </a:r>
          </a:p>
          <a:p>
            <a:pPr>
              <a:buFont typeface="Wingdings" pitchFamily="2" charset="2"/>
              <a:buChar char="v"/>
            </a:pPr>
            <a:r>
              <a:rPr lang="en-US" sz="1500" dirty="0"/>
              <a:t>Refine AI narration models based on real-world interactions.</a:t>
            </a:r>
          </a:p>
          <a:p>
            <a:pPr>
              <a:buFont typeface="Wingdings" pitchFamily="2" charset="2"/>
              <a:buChar char="v"/>
            </a:pPr>
            <a:r>
              <a:rPr lang="en-US" sz="1500" dirty="0"/>
              <a:t>Explore additional accessibility features, such as haptic feedback and spatial audio cues.</a:t>
            </a:r>
          </a:p>
        </p:txBody>
      </p:sp>
      <p:grpSp>
        <p:nvGrpSpPr>
          <p:cNvPr id="22" name="Group 21">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3" name="Oval 22">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4" name="Oval 23">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661462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Wood Type</Template>
  <TotalTime>583</TotalTime>
  <Words>1089</Words>
  <Application>Microsoft Macintosh PowerPoint</Application>
  <PresentationFormat>Widescreen</PresentationFormat>
  <Paragraphs>76</Paragraphs>
  <Slides>14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-webkit-standard</vt:lpstr>
      <vt:lpstr>Aptos</vt:lpstr>
      <vt:lpstr>Arial</vt:lpstr>
      <vt:lpstr>Calibri</vt:lpstr>
      <vt:lpstr>Rockwell</vt:lpstr>
      <vt:lpstr>Rockwell Condensed</vt:lpstr>
      <vt:lpstr>Rockwell Extra Bold</vt:lpstr>
      <vt:lpstr>Wingdings</vt:lpstr>
      <vt:lpstr>Wood Type</vt:lpstr>
      <vt:lpstr>Exploring a 2D First-Person Game for Blind Players</vt:lpstr>
      <vt:lpstr>Introduction</vt:lpstr>
      <vt:lpstr>Existing Research: (GitHUb and white papers)</vt:lpstr>
      <vt:lpstr>Overview of Past Work on Video-to-Text Games for Blind Users</vt:lpstr>
      <vt:lpstr>GitHub Repositories</vt:lpstr>
      <vt:lpstr>Research Papers and White Papers</vt:lpstr>
      <vt:lpstr>Key Findings</vt:lpstr>
      <vt:lpstr>Limitations</vt:lpstr>
      <vt:lpstr>How do 2d first-person games work?</vt:lpstr>
      <vt:lpstr>My Proposed Approach</vt:lpstr>
      <vt:lpstr>Prototyping the Idea</vt:lpstr>
      <vt:lpstr>Tools &amp; Technologies</vt:lpstr>
      <vt:lpstr>Challenges &amp; Considerations</vt:lpstr>
      <vt:lpstr>Conclusion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Youssef Youssef</dc:creator>
  <cp:lastModifiedBy>Youssef Youssef</cp:lastModifiedBy>
  <cp:revision>4</cp:revision>
  <dcterms:created xsi:type="dcterms:W3CDTF">2025-03-10T14:28:04Z</dcterms:created>
  <dcterms:modified xsi:type="dcterms:W3CDTF">2025-03-11T00:11:31Z</dcterms:modified>
</cp:coreProperties>
</file>